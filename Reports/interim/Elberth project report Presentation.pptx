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5" autoAdjust="0"/>
    <p:restoredTop sz="94660"/>
  </p:normalViewPr>
  <p:slideViewPr>
    <p:cSldViewPr snapToGrid="0">
      <p:cViewPr varScale="1">
        <p:scale>
          <a:sx n="75" d="100"/>
          <a:sy n="75" d="100"/>
        </p:scale>
        <p:origin x="53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BCD700-C2F7-481B-8F39-42C49EB0292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0ABD228-65E2-491B-A5DA-F7AC17CB8225}">
      <dgm:prSet/>
      <dgm:spPr/>
      <dgm:t>
        <a:bodyPr/>
        <a:lstStyle/>
        <a:p>
          <a:r>
            <a:rPr lang="en-US" b="0" i="0" baseline="0"/>
            <a:t>Main question: Which factors drive wage gaps in Maryland? </a:t>
          </a:r>
          <a:endParaRPr lang="en-US"/>
        </a:p>
      </dgm:t>
    </dgm:pt>
    <dgm:pt modelId="{269FEF9F-5F46-43C3-8F96-249A857E1396}" type="parTrans" cxnId="{61D78D6B-A47E-4767-897C-59A296F7E278}">
      <dgm:prSet/>
      <dgm:spPr/>
      <dgm:t>
        <a:bodyPr/>
        <a:lstStyle/>
        <a:p>
          <a:endParaRPr lang="en-US"/>
        </a:p>
      </dgm:t>
    </dgm:pt>
    <dgm:pt modelId="{BFD1AED1-A389-47CD-8428-681DB3154B94}" type="sibTrans" cxnId="{61D78D6B-A47E-4767-897C-59A296F7E278}">
      <dgm:prSet/>
      <dgm:spPr/>
      <dgm:t>
        <a:bodyPr/>
        <a:lstStyle/>
        <a:p>
          <a:endParaRPr lang="en-US"/>
        </a:p>
      </dgm:t>
    </dgm:pt>
    <dgm:pt modelId="{52473BAD-9D05-4247-A7B4-538EDBF1D889}">
      <dgm:prSet/>
      <dgm:spPr/>
      <dgm:t>
        <a:bodyPr/>
        <a:lstStyle/>
        <a:p>
          <a:r>
            <a:rPr lang="en-US" b="0" i="0" baseline="0"/>
            <a:t>Two parts: structural sorting and within‑job gaps </a:t>
          </a:r>
          <a:endParaRPr lang="en-US"/>
        </a:p>
      </dgm:t>
    </dgm:pt>
    <dgm:pt modelId="{74AF74DA-69CC-4B50-A0E7-1892840A4D0E}" type="parTrans" cxnId="{38E73F77-57FB-497A-B326-70C5D6E78D65}">
      <dgm:prSet/>
      <dgm:spPr/>
      <dgm:t>
        <a:bodyPr/>
        <a:lstStyle/>
        <a:p>
          <a:endParaRPr lang="en-US"/>
        </a:p>
      </dgm:t>
    </dgm:pt>
    <dgm:pt modelId="{6885AB45-2370-45FD-B36A-F27E2C9C0477}" type="sibTrans" cxnId="{38E73F77-57FB-497A-B326-70C5D6E78D65}">
      <dgm:prSet/>
      <dgm:spPr/>
      <dgm:t>
        <a:bodyPr/>
        <a:lstStyle/>
        <a:p>
          <a:endParaRPr lang="en-US"/>
        </a:p>
      </dgm:t>
    </dgm:pt>
    <dgm:pt modelId="{04B89703-0BE6-431F-965B-8D9FD7748F41}">
      <dgm:prSet/>
      <dgm:spPr/>
      <dgm:t>
        <a:bodyPr/>
        <a:lstStyle/>
        <a:p>
          <a:r>
            <a:rPr lang="en-US" b="0" i="0" baseline="0"/>
            <a:t>Roadmap: Data → Cleaning → EDA → Regression &amp; Decomposition → Policy implications </a:t>
          </a:r>
          <a:endParaRPr lang="en-US"/>
        </a:p>
      </dgm:t>
    </dgm:pt>
    <dgm:pt modelId="{6400ABB6-9E51-43B7-AF7A-5490D690A8CF}" type="parTrans" cxnId="{78DC3EDA-58CF-45BC-9B35-D2966D42E143}">
      <dgm:prSet/>
      <dgm:spPr/>
      <dgm:t>
        <a:bodyPr/>
        <a:lstStyle/>
        <a:p>
          <a:endParaRPr lang="en-US"/>
        </a:p>
      </dgm:t>
    </dgm:pt>
    <dgm:pt modelId="{59213DDD-52CE-496D-9385-B6EB5D560172}" type="sibTrans" cxnId="{78DC3EDA-58CF-45BC-9B35-D2966D42E143}">
      <dgm:prSet/>
      <dgm:spPr/>
      <dgm:t>
        <a:bodyPr/>
        <a:lstStyle/>
        <a:p>
          <a:endParaRPr lang="en-US"/>
        </a:p>
      </dgm:t>
    </dgm:pt>
    <dgm:pt modelId="{5D1E1260-3665-415C-885B-362916C43ECD}" type="pres">
      <dgm:prSet presAssocID="{54BCD700-C2F7-481B-8F39-42C49EB029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CCE7F2-F018-426F-A20F-5BBC7603ED56}" type="pres">
      <dgm:prSet presAssocID="{80ABD228-65E2-491B-A5DA-F7AC17CB8225}" presName="hierRoot1" presStyleCnt="0"/>
      <dgm:spPr/>
    </dgm:pt>
    <dgm:pt modelId="{605AB977-09A2-45AD-B1F5-235F3896AF34}" type="pres">
      <dgm:prSet presAssocID="{80ABD228-65E2-491B-A5DA-F7AC17CB8225}" presName="composite" presStyleCnt="0"/>
      <dgm:spPr/>
    </dgm:pt>
    <dgm:pt modelId="{8ECAFD9F-C02F-4C78-A86D-EEA9AAC0BE9F}" type="pres">
      <dgm:prSet presAssocID="{80ABD228-65E2-491B-A5DA-F7AC17CB8225}" presName="background" presStyleLbl="node0" presStyleIdx="0" presStyleCnt="3"/>
      <dgm:spPr/>
    </dgm:pt>
    <dgm:pt modelId="{CF4D9A0B-97BA-46AA-99BA-2108962EBE22}" type="pres">
      <dgm:prSet presAssocID="{80ABD228-65E2-491B-A5DA-F7AC17CB8225}" presName="text" presStyleLbl="fgAcc0" presStyleIdx="0" presStyleCnt="3">
        <dgm:presLayoutVars>
          <dgm:chPref val="3"/>
        </dgm:presLayoutVars>
      </dgm:prSet>
      <dgm:spPr/>
    </dgm:pt>
    <dgm:pt modelId="{2E530B4D-5B71-408A-9A22-422DC37BE4B8}" type="pres">
      <dgm:prSet presAssocID="{80ABD228-65E2-491B-A5DA-F7AC17CB8225}" presName="hierChild2" presStyleCnt="0"/>
      <dgm:spPr/>
    </dgm:pt>
    <dgm:pt modelId="{567DDABB-943F-4CA4-865D-79E52137BF1F}" type="pres">
      <dgm:prSet presAssocID="{52473BAD-9D05-4247-A7B4-538EDBF1D889}" presName="hierRoot1" presStyleCnt="0"/>
      <dgm:spPr/>
    </dgm:pt>
    <dgm:pt modelId="{B91D1C34-685C-4BBA-B057-C71EECCD2F1A}" type="pres">
      <dgm:prSet presAssocID="{52473BAD-9D05-4247-A7B4-538EDBF1D889}" presName="composite" presStyleCnt="0"/>
      <dgm:spPr/>
    </dgm:pt>
    <dgm:pt modelId="{4689B531-6138-4F8D-BDE4-CD055431567C}" type="pres">
      <dgm:prSet presAssocID="{52473BAD-9D05-4247-A7B4-538EDBF1D889}" presName="background" presStyleLbl="node0" presStyleIdx="1" presStyleCnt="3"/>
      <dgm:spPr/>
    </dgm:pt>
    <dgm:pt modelId="{62D382E6-641C-4A79-B5F9-95C3BC283C6E}" type="pres">
      <dgm:prSet presAssocID="{52473BAD-9D05-4247-A7B4-538EDBF1D889}" presName="text" presStyleLbl="fgAcc0" presStyleIdx="1" presStyleCnt="3">
        <dgm:presLayoutVars>
          <dgm:chPref val="3"/>
        </dgm:presLayoutVars>
      </dgm:prSet>
      <dgm:spPr/>
    </dgm:pt>
    <dgm:pt modelId="{2D55C817-228F-4BF5-B04B-33E2E9B0DCB9}" type="pres">
      <dgm:prSet presAssocID="{52473BAD-9D05-4247-A7B4-538EDBF1D889}" presName="hierChild2" presStyleCnt="0"/>
      <dgm:spPr/>
    </dgm:pt>
    <dgm:pt modelId="{8B3559FA-08F1-4CEE-99E3-AD039836173D}" type="pres">
      <dgm:prSet presAssocID="{04B89703-0BE6-431F-965B-8D9FD7748F41}" presName="hierRoot1" presStyleCnt="0"/>
      <dgm:spPr/>
    </dgm:pt>
    <dgm:pt modelId="{7980941F-03FB-4A8A-B610-D05249076CEB}" type="pres">
      <dgm:prSet presAssocID="{04B89703-0BE6-431F-965B-8D9FD7748F41}" presName="composite" presStyleCnt="0"/>
      <dgm:spPr/>
    </dgm:pt>
    <dgm:pt modelId="{A9A5D890-1631-4780-B3E2-008715F83E66}" type="pres">
      <dgm:prSet presAssocID="{04B89703-0BE6-431F-965B-8D9FD7748F41}" presName="background" presStyleLbl="node0" presStyleIdx="2" presStyleCnt="3"/>
      <dgm:spPr/>
    </dgm:pt>
    <dgm:pt modelId="{346BF8DE-5FDA-410B-A19F-534A06D99408}" type="pres">
      <dgm:prSet presAssocID="{04B89703-0BE6-431F-965B-8D9FD7748F41}" presName="text" presStyleLbl="fgAcc0" presStyleIdx="2" presStyleCnt="3">
        <dgm:presLayoutVars>
          <dgm:chPref val="3"/>
        </dgm:presLayoutVars>
      </dgm:prSet>
      <dgm:spPr/>
    </dgm:pt>
    <dgm:pt modelId="{2C135830-6C87-494A-AB28-67C12B84D079}" type="pres">
      <dgm:prSet presAssocID="{04B89703-0BE6-431F-965B-8D9FD7748F41}" presName="hierChild2" presStyleCnt="0"/>
      <dgm:spPr/>
    </dgm:pt>
  </dgm:ptLst>
  <dgm:cxnLst>
    <dgm:cxn modelId="{D7086C06-865B-497B-A920-9E8FE5A138B0}" type="presOf" srcId="{80ABD228-65E2-491B-A5DA-F7AC17CB8225}" destId="{CF4D9A0B-97BA-46AA-99BA-2108962EBE22}" srcOrd="0" destOrd="0" presId="urn:microsoft.com/office/officeart/2005/8/layout/hierarchy1"/>
    <dgm:cxn modelId="{79651A19-BFEA-4C4F-97B4-4525B23F3FCA}" type="presOf" srcId="{54BCD700-C2F7-481B-8F39-42C49EB0292F}" destId="{5D1E1260-3665-415C-885B-362916C43ECD}" srcOrd="0" destOrd="0" presId="urn:microsoft.com/office/officeart/2005/8/layout/hierarchy1"/>
    <dgm:cxn modelId="{61D78D6B-A47E-4767-897C-59A296F7E278}" srcId="{54BCD700-C2F7-481B-8F39-42C49EB0292F}" destId="{80ABD228-65E2-491B-A5DA-F7AC17CB8225}" srcOrd="0" destOrd="0" parTransId="{269FEF9F-5F46-43C3-8F96-249A857E1396}" sibTransId="{BFD1AED1-A389-47CD-8428-681DB3154B94}"/>
    <dgm:cxn modelId="{38E73F77-57FB-497A-B326-70C5D6E78D65}" srcId="{54BCD700-C2F7-481B-8F39-42C49EB0292F}" destId="{52473BAD-9D05-4247-A7B4-538EDBF1D889}" srcOrd="1" destOrd="0" parTransId="{74AF74DA-69CC-4B50-A0E7-1892840A4D0E}" sibTransId="{6885AB45-2370-45FD-B36A-F27E2C9C0477}"/>
    <dgm:cxn modelId="{78DC3EDA-58CF-45BC-9B35-D2966D42E143}" srcId="{54BCD700-C2F7-481B-8F39-42C49EB0292F}" destId="{04B89703-0BE6-431F-965B-8D9FD7748F41}" srcOrd="2" destOrd="0" parTransId="{6400ABB6-9E51-43B7-AF7A-5490D690A8CF}" sibTransId="{59213DDD-52CE-496D-9385-B6EB5D560172}"/>
    <dgm:cxn modelId="{DE339DEF-AD81-4176-9102-1424667BDA03}" type="presOf" srcId="{52473BAD-9D05-4247-A7B4-538EDBF1D889}" destId="{62D382E6-641C-4A79-B5F9-95C3BC283C6E}" srcOrd="0" destOrd="0" presId="urn:microsoft.com/office/officeart/2005/8/layout/hierarchy1"/>
    <dgm:cxn modelId="{39C4E0F6-F53C-4CE0-B7CA-D30A23D5901B}" type="presOf" srcId="{04B89703-0BE6-431F-965B-8D9FD7748F41}" destId="{346BF8DE-5FDA-410B-A19F-534A06D99408}" srcOrd="0" destOrd="0" presId="urn:microsoft.com/office/officeart/2005/8/layout/hierarchy1"/>
    <dgm:cxn modelId="{4E042562-15FB-4E31-BBA9-1AAB9EFF572C}" type="presParOf" srcId="{5D1E1260-3665-415C-885B-362916C43ECD}" destId="{23CCE7F2-F018-426F-A20F-5BBC7603ED56}" srcOrd="0" destOrd="0" presId="urn:microsoft.com/office/officeart/2005/8/layout/hierarchy1"/>
    <dgm:cxn modelId="{044ACBC2-67FD-4722-983A-9F83EF151EBA}" type="presParOf" srcId="{23CCE7F2-F018-426F-A20F-5BBC7603ED56}" destId="{605AB977-09A2-45AD-B1F5-235F3896AF34}" srcOrd="0" destOrd="0" presId="urn:microsoft.com/office/officeart/2005/8/layout/hierarchy1"/>
    <dgm:cxn modelId="{E729B252-0326-4FFC-BD10-DC0D33AAB42D}" type="presParOf" srcId="{605AB977-09A2-45AD-B1F5-235F3896AF34}" destId="{8ECAFD9F-C02F-4C78-A86D-EEA9AAC0BE9F}" srcOrd="0" destOrd="0" presId="urn:microsoft.com/office/officeart/2005/8/layout/hierarchy1"/>
    <dgm:cxn modelId="{ABF0FEFE-2A88-43B2-B474-D0D896C0D378}" type="presParOf" srcId="{605AB977-09A2-45AD-B1F5-235F3896AF34}" destId="{CF4D9A0B-97BA-46AA-99BA-2108962EBE22}" srcOrd="1" destOrd="0" presId="urn:microsoft.com/office/officeart/2005/8/layout/hierarchy1"/>
    <dgm:cxn modelId="{4AF0D3FD-66D3-4628-8E4C-9DC95BDC002C}" type="presParOf" srcId="{23CCE7F2-F018-426F-A20F-5BBC7603ED56}" destId="{2E530B4D-5B71-408A-9A22-422DC37BE4B8}" srcOrd="1" destOrd="0" presId="urn:microsoft.com/office/officeart/2005/8/layout/hierarchy1"/>
    <dgm:cxn modelId="{36BD7786-B09E-4E09-A411-92C57FFFDEC8}" type="presParOf" srcId="{5D1E1260-3665-415C-885B-362916C43ECD}" destId="{567DDABB-943F-4CA4-865D-79E52137BF1F}" srcOrd="1" destOrd="0" presId="urn:microsoft.com/office/officeart/2005/8/layout/hierarchy1"/>
    <dgm:cxn modelId="{CBC7CD38-D52F-4C2C-86AD-DC5C78F69810}" type="presParOf" srcId="{567DDABB-943F-4CA4-865D-79E52137BF1F}" destId="{B91D1C34-685C-4BBA-B057-C71EECCD2F1A}" srcOrd="0" destOrd="0" presId="urn:microsoft.com/office/officeart/2005/8/layout/hierarchy1"/>
    <dgm:cxn modelId="{C93BDF62-7ECD-480B-82E9-A97957FA10E9}" type="presParOf" srcId="{B91D1C34-685C-4BBA-B057-C71EECCD2F1A}" destId="{4689B531-6138-4F8D-BDE4-CD055431567C}" srcOrd="0" destOrd="0" presId="urn:microsoft.com/office/officeart/2005/8/layout/hierarchy1"/>
    <dgm:cxn modelId="{0CFC26D7-1427-4044-9123-60852801557B}" type="presParOf" srcId="{B91D1C34-685C-4BBA-B057-C71EECCD2F1A}" destId="{62D382E6-641C-4A79-B5F9-95C3BC283C6E}" srcOrd="1" destOrd="0" presId="urn:microsoft.com/office/officeart/2005/8/layout/hierarchy1"/>
    <dgm:cxn modelId="{D22FC11C-465E-4797-8BD6-1E8449FE17D8}" type="presParOf" srcId="{567DDABB-943F-4CA4-865D-79E52137BF1F}" destId="{2D55C817-228F-4BF5-B04B-33E2E9B0DCB9}" srcOrd="1" destOrd="0" presId="urn:microsoft.com/office/officeart/2005/8/layout/hierarchy1"/>
    <dgm:cxn modelId="{D73570FD-A260-4F97-BEF2-67FC14C62B16}" type="presParOf" srcId="{5D1E1260-3665-415C-885B-362916C43ECD}" destId="{8B3559FA-08F1-4CEE-99E3-AD039836173D}" srcOrd="2" destOrd="0" presId="urn:microsoft.com/office/officeart/2005/8/layout/hierarchy1"/>
    <dgm:cxn modelId="{877EFF20-3FA8-4387-8136-D11A85DBFB43}" type="presParOf" srcId="{8B3559FA-08F1-4CEE-99E3-AD039836173D}" destId="{7980941F-03FB-4A8A-B610-D05249076CEB}" srcOrd="0" destOrd="0" presId="urn:microsoft.com/office/officeart/2005/8/layout/hierarchy1"/>
    <dgm:cxn modelId="{F663157F-D1EE-4C45-AE8C-A263ECC4861C}" type="presParOf" srcId="{7980941F-03FB-4A8A-B610-D05249076CEB}" destId="{A9A5D890-1631-4780-B3E2-008715F83E66}" srcOrd="0" destOrd="0" presId="urn:microsoft.com/office/officeart/2005/8/layout/hierarchy1"/>
    <dgm:cxn modelId="{D445A0F5-FCF8-4878-8473-474F873D8314}" type="presParOf" srcId="{7980941F-03FB-4A8A-B610-D05249076CEB}" destId="{346BF8DE-5FDA-410B-A19F-534A06D99408}" srcOrd="1" destOrd="0" presId="urn:microsoft.com/office/officeart/2005/8/layout/hierarchy1"/>
    <dgm:cxn modelId="{0B26804C-0DBC-4DFC-AE03-AD545AD01CCA}" type="presParOf" srcId="{8B3559FA-08F1-4CEE-99E3-AD039836173D}" destId="{2C135830-6C87-494A-AB28-67C12B84D07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3D95B3-793B-4A09-8A46-F9B7A890D5D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E81C6A6-DFEA-4DE9-9529-2AB4761E6E3E}">
      <dgm:prSet/>
      <dgm:spPr/>
      <dgm:t>
        <a:bodyPr/>
        <a:lstStyle/>
        <a:p>
          <a:r>
            <a:rPr lang="en-US" b="0" i="0" baseline="0"/>
            <a:t>ACS PUMS 2024: wages, hours, occupation, education, race, sex, nativity, disability, person weight PWGTP </a:t>
          </a:r>
          <a:endParaRPr lang="en-US"/>
        </a:p>
      </dgm:t>
    </dgm:pt>
    <dgm:pt modelId="{DF7FF089-1FEC-461A-9DB6-182763F32FFA}" type="parTrans" cxnId="{0DA43616-7BC0-4732-B610-6334BD4271F7}">
      <dgm:prSet/>
      <dgm:spPr/>
      <dgm:t>
        <a:bodyPr/>
        <a:lstStyle/>
        <a:p>
          <a:endParaRPr lang="en-US"/>
        </a:p>
      </dgm:t>
    </dgm:pt>
    <dgm:pt modelId="{BDF816DB-0CB6-4A19-8442-FDCB659F1CF7}" type="sibTrans" cxnId="{0DA43616-7BC0-4732-B610-6334BD4271F7}">
      <dgm:prSet/>
      <dgm:spPr/>
      <dgm:t>
        <a:bodyPr/>
        <a:lstStyle/>
        <a:p>
          <a:endParaRPr lang="en-US"/>
        </a:p>
      </dgm:t>
    </dgm:pt>
    <dgm:pt modelId="{E5EAB3EA-14D2-4ED4-B7D9-1CC41D1AD59F}">
      <dgm:prSet/>
      <dgm:spPr/>
      <dgm:t>
        <a:bodyPr/>
        <a:lstStyle/>
        <a:p>
          <a:r>
            <a:rPr lang="en-US" b="0" i="0" baseline="0"/>
            <a:t>BLS OEWS May 2024: occupation median wages, employment counts, location quotients </a:t>
          </a:r>
          <a:endParaRPr lang="en-US"/>
        </a:p>
      </dgm:t>
    </dgm:pt>
    <dgm:pt modelId="{893DC4D7-6DFD-4F45-800C-9923B16537D1}" type="parTrans" cxnId="{B99B5DD7-B802-4BE2-8FBA-3DD1CD605E4C}">
      <dgm:prSet/>
      <dgm:spPr/>
      <dgm:t>
        <a:bodyPr/>
        <a:lstStyle/>
        <a:p>
          <a:endParaRPr lang="en-US"/>
        </a:p>
      </dgm:t>
    </dgm:pt>
    <dgm:pt modelId="{51447549-9ED9-4188-9531-3E056FE5CA69}" type="sibTrans" cxnId="{B99B5DD7-B802-4BE2-8FBA-3DD1CD605E4C}">
      <dgm:prSet/>
      <dgm:spPr/>
      <dgm:t>
        <a:bodyPr/>
        <a:lstStyle/>
        <a:p>
          <a:endParaRPr lang="en-US"/>
        </a:p>
      </dgm:t>
    </dgm:pt>
    <dgm:pt modelId="{8118A594-448D-4580-99D3-4A3D09E96ECC}">
      <dgm:prSet/>
      <dgm:spPr/>
      <dgm:t>
        <a:bodyPr/>
        <a:lstStyle/>
        <a:p>
          <a:r>
            <a:rPr lang="en-US" b="0" i="0" baseline="0"/>
            <a:t>Sample: ~145k sampled workers → ~2.9M weighted population </a:t>
          </a:r>
          <a:endParaRPr lang="en-US"/>
        </a:p>
      </dgm:t>
    </dgm:pt>
    <dgm:pt modelId="{5E93B2CD-51CC-40E1-A3D2-9C3436860282}" type="parTrans" cxnId="{6DE6ABC3-7AB6-491E-A3BD-EBDDDD025E08}">
      <dgm:prSet/>
      <dgm:spPr/>
      <dgm:t>
        <a:bodyPr/>
        <a:lstStyle/>
        <a:p>
          <a:endParaRPr lang="en-US"/>
        </a:p>
      </dgm:t>
    </dgm:pt>
    <dgm:pt modelId="{89E9B685-0584-44AC-8B75-5CCDA0D6B71F}" type="sibTrans" cxnId="{6DE6ABC3-7AB6-491E-A3BD-EBDDDD025E08}">
      <dgm:prSet/>
      <dgm:spPr/>
      <dgm:t>
        <a:bodyPr/>
        <a:lstStyle/>
        <a:p>
          <a:endParaRPr lang="en-US"/>
        </a:p>
      </dgm:t>
    </dgm:pt>
    <dgm:pt modelId="{B90EC8A1-4239-49BC-AB27-865B906D065D}" type="pres">
      <dgm:prSet presAssocID="{D13D95B3-793B-4A09-8A46-F9B7A890D5D1}" presName="linear" presStyleCnt="0">
        <dgm:presLayoutVars>
          <dgm:animLvl val="lvl"/>
          <dgm:resizeHandles val="exact"/>
        </dgm:presLayoutVars>
      </dgm:prSet>
      <dgm:spPr/>
    </dgm:pt>
    <dgm:pt modelId="{AD3844E4-C9E3-4F07-ABA7-F8BA4C7801F4}" type="pres">
      <dgm:prSet presAssocID="{7E81C6A6-DFEA-4DE9-9529-2AB4761E6E3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FF80290-6093-4DEF-9FE4-46D16787C027}" type="pres">
      <dgm:prSet presAssocID="{BDF816DB-0CB6-4A19-8442-FDCB659F1CF7}" presName="spacer" presStyleCnt="0"/>
      <dgm:spPr/>
    </dgm:pt>
    <dgm:pt modelId="{878CF4E9-B3A4-4C65-A9A8-8E3534C47C75}" type="pres">
      <dgm:prSet presAssocID="{E5EAB3EA-14D2-4ED4-B7D9-1CC41D1AD59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4C03FC7-F873-466C-A062-F728F1A8180F}" type="pres">
      <dgm:prSet presAssocID="{51447549-9ED9-4188-9531-3E056FE5CA69}" presName="spacer" presStyleCnt="0"/>
      <dgm:spPr/>
    </dgm:pt>
    <dgm:pt modelId="{7EB2268A-A4A4-4E10-A43D-0AFB30E9E7AF}" type="pres">
      <dgm:prSet presAssocID="{8118A594-448D-4580-99D3-4A3D09E96EC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DA43616-7BC0-4732-B610-6334BD4271F7}" srcId="{D13D95B3-793B-4A09-8A46-F9B7A890D5D1}" destId="{7E81C6A6-DFEA-4DE9-9529-2AB4761E6E3E}" srcOrd="0" destOrd="0" parTransId="{DF7FF089-1FEC-461A-9DB6-182763F32FFA}" sibTransId="{BDF816DB-0CB6-4A19-8442-FDCB659F1CF7}"/>
    <dgm:cxn modelId="{0949283D-C5B4-4130-8211-588D5C907CB9}" type="presOf" srcId="{7E81C6A6-DFEA-4DE9-9529-2AB4761E6E3E}" destId="{AD3844E4-C9E3-4F07-ABA7-F8BA4C7801F4}" srcOrd="0" destOrd="0" presId="urn:microsoft.com/office/officeart/2005/8/layout/vList2"/>
    <dgm:cxn modelId="{1C59AF4B-F53F-4A1F-8CC6-8D4EC3D1B341}" type="presOf" srcId="{8118A594-448D-4580-99D3-4A3D09E96ECC}" destId="{7EB2268A-A4A4-4E10-A43D-0AFB30E9E7AF}" srcOrd="0" destOrd="0" presId="urn:microsoft.com/office/officeart/2005/8/layout/vList2"/>
    <dgm:cxn modelId="{5FCA128E-560F-4B2E-AD8D-1A9E4B1FA49D}" type="presOf" srcId="{E5EAB3EA-14D2-4ED4-B7D9-1CC41D1AD59F}" destId="{878CF4E9-B3A4-4C65-A9A8-8E3534C47C75}" srcOrd="0" destOrd="0" presId="urn:microsoft.com/office/officeart/2005/8/layout/vList2"/>
    <dgm:cxn modelId="{6DE6ABC3-7AB6-491E-A3BD-EBDDDD025E08}" srcId="{D13D95B3-793B-4A09-8A46-F9B7A890D5D1}" destId="{8118A594-448D-4580-99D3-4A3D09E96ECC}" srcOrd="2" destOrd="0" parTransId="{5E93B2CD-51CC-40E1-A3D2-9C3436860282}" sibTransId="{89E9B685-0584-44AC-8B75-5CCDA0D6B71F}"/>
    <dgm:cxn modelId="{BC9328D0-1D35-4256-BC3C-5DB415DFA0E9}" type="presOf" srcId="{D13D95B3-793B-4A09-8A46-F9B7A890D5D1}" destId="{B90EC8A1-4239-49BC-AB27-865B906D065D}" srcOrd="0" destOrd="0" presId="urn:microsoft.com/office/officeart/2005/8/layout/vList2"/>
    <dgm:cxn modelId="{B99B5DD7-B802-4BE2-8FBA-3DD1CD605E4C}" srcId="{D13D95B3-793B-4A09-8A46-F9B7A890D5D1}" destId="{E5EAB3EA-14D2-4ED4-B7D9-1CC41D1AD59F}" srcOrd="1" destOrd="0" parTransId="{893DC4D7-6DFD-4F45-800C-9923B16537D1}" sibTransId="{51447549-9ED9-4188-9531-3E056FE5CA69}"/>
    <dgm:cxn modelId="{F22E30CB-ACC2-4C75-B7DF-CF001472823D}" type="presParOf" srcId="{B90EC8A1-4239-49BC-AB27-865B906D065D}" destId="{AD3844E4-C9E3-4F07-ABA7-F8BA4C7801F4}" srcOrd="0" destOrd="0" presId="urn:microsoft.com/office/officeart/2005/8/layout/vList2"/>
    <dgm:cxn modelId="{023F49C4-0749-4385-A577-A0EBB84B7C28}" type="presParOf" srcId="{B90EC8A1-4239-49BC-AB27-865B906D065D}" destId="{6FF80290-6093-4DEF-9FE4-46D16787C027}" srcOrd="1" destOrd="0" presId="urn:microsoft.com/office/officeart/2005/8/layout/vList2"/>
    <dgm:cxn modelId="{0B1E03E2-00AB-49C9-8745-2F669DBF9B13}" type="presParOf" srcId="{B90EC8A1-4239-49BC-AB27-865B906D065D}" destId="{878CF4E9-B3A4-4C65-A9A8-8E3534C47C75}" srcOrd="2" destOrd="0" presId="urn:microsoft.com/office/officeart/2005/8/layout/vList2"/>
    <dgm:cxn modelId="{36B7B9CC-F838-4944-B115-8829121E7812}" type="presParOf" srcId="{B90EC8A1-4239-49BC-AB27-865B906D065D}" destId="{54C03FC7-F873-466C-A062-F728F1A8180F}" srcOrd="3" destOrd="0" presId="urn:microsoft.com/office/officeart/2005/8/layout/vList2"/>
    <dgm:cxn modelId="{8A75F5CB-CC2A-400B-9F66-E7A4EB19DB64}" type="presParOf" srcId="{B90EC8A1-4239-49BC-AB27-865B906D065D}" destId="{7EB2268A-A4A4-4E10-A43D-0AFB30E9E7A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FFF34B-ECB0-48E8-B24C-3D5451BE6BE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2CB7B54-D255-458D-88E1-A20D0D908CBF}">
      <dgm:prSet/>
      <dgm:spPr/>
      <dgm:t>
        <a:bodyPr/>
        <a:lstStyle/>
        <a:p>
          <a:r>
            <a:rPr lang="en-US" b="0" i="0" baseline="0"/>
            <a:t>Remove missing or zero wages and under 18 </a:t>
          </a:r>
          <a:endParaRPr lang="en-US"/>
        </a:p>
      </dgm:t>
    </dgm:pt>
    <dgm:pt modelId="{9BC91E80-4443-46D3-9520-3AA1CA40A780}" type="parTrans" cxnId="{CB840646-E25C-4CD7-B167-B92CE2207DD1}">
      <dgm:prSet/>
      <dgm:spPr/>
      <dgm:t>
        <a:bodyPr/>
        <a:lstStyle/>
        <a:p>
          <a:endParaRPr lang="en-US"/>
        </a:p>
      </dgm:t>
    </dgm:pt>
    <dgm:pt modelId="{FA98638D-6127-4CEE-9E75-6D07D304A14D}" type="sibTrans" cxnId="{CB840646-E25C-4CD7-B167-B92CE2207DD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E2CC826-E45B-4BB6-84D4-2619D0F8EC31}">
      <dgm:prSet/>
      <dgm:spPr/>
      <dgm:t>
        <a:bodyPr/>
        <a:lstStyle/>
        <a:p>
          <a:r>
            <a:rPr lang="en-US" b="0" i="0" baseline="0"/>
            <a:t>Create annual hours = weeks × hours; define full‑time vs part‑time </a:t>
          </a:r>
          <a:endParaRPr lang="en-US"/>
        </a:p>
      </dgm:t>
    </dgm:pt>
    <dgm:pt modelId="{B0D3B97B-5B05-4417-AF7D-65646708B208}" type="parTrans" cxnId="{50B9885F-E74A-4551-B6DA-ED023A86F213}">
      <dgm:prSet/>
      <dgm:spPr/>
      <dgm:t>
        <a:bodyPr/>
        <a:lstStyle/>
        <a:p>
          <a:endParaRPr lang="en-US"/>
        </a:p>
      </dgm:t>
    </dgm:pt>
    <dgm:pt modelId="{553C6E84-1257-4157-A7E6-9F636B659BBA}" type="sibTrans" cxnId="{50B9885F-E74A-4551-B6DA-ED023A86F21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E122B496-8B1C-40D6-8A27-FE2DB5F34E10}">
      <dgm:prSet/>
      <dgm:spPr/>
      <dgm:t>
        <a:bodyPr/>
        <a:lstStyle/>
        <a:p>
          <a:r>
            <a:rPr lang="en-US" b="0" i="0" baseline="0"/>
            <a:t>Collapse education into five tiers; create race_eth groups </a:t>
          </a:r>
          <a:endParaRPr lang="en-US"/>
        </a:p>
      </dgm:t>
    </dgm:pt>
    <dgm:pt modelId="{4E0AE453-496B-4AC3-8608-5433DC1FEB56}" type="parTrans" cxnId="{984604AF-2188-4DB8-9117-2620322C73C3}">
      <dgm:prSet/>
      <dgm:spPr/>
      <dgm:t>
        <a:bodyPr/>
        <a:lstStyle/>
        <a:p>
          <a:endParaRPr lang="en-US"/>
        </a:p>
      </dgm:t>
    </dgm:pt>
    <dgm:pt modelId="{9FAA96C3-7DB8-4578-874E-5E7F6BB47891}" type="sibTrans" cxnId="{984604AF-2188-4DB8-9117-2620322C73C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54237CF-5B8F-4B8B-8D1E-06BC58516C10}">
      <dgm:prSet/>
      <dgm:spPr/>
      <dgm:t>
        <a:bodyPr/>
        <a:lstStyle/>
        <a:p>
          <a:r>
            <a:rPr lang="en-US" b="0" i="0" baseline="0"/>
            <a:t>Map OCCP to 2‑digit SOC groups; create STEM indicator </a:t>
          </a:r>
          <a:endParaRPr lang="en-US"/>
        </a:p>
      </dgm:t>
    </dgm:pt>
    <dgm:pt modelId="{EDF51DD2-FA83-4821-A278-9B64DB6ED02E}" type="parTrans" cxnId="{0017C6B0-7B9A-4FDF-B824-FAE58B2109FF}">
      <dgm:prSet/>
      <dgm:spPr/>
      <dgm:t>
        <a:bodyPr/>
        <a:lstStyle/>
        <a:p>
          <a:endParaRPr lang="en-US"/>
        </a:p>
      </dgm:t>
    </dgm:pt>
    <dgm:pt modelId="{3E3134CA-01BD-4B64-9530-4A22A2CBB319}" type="sibTrans" cxnId="{0017C6B0-7B9A-4FDF-B824-FAE58B2109FF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45E6AEC3-C24E-4935-AD98-2A797498CEAE}">
      <dgm:prSet/>
      <dgm:spPr/>
      <dgm:t>
        <a:bodyPr/>
        <a:lstStyle/>
        <a:p>
          <a:r>
            <a:rPr lang="en-US" b="0" i="0" baseline="0"/>
            <a:t>Save cleaned dataset for analysis </a:t>
          </a:r>
          <a:endParaRPr lang="en-US"/>
        </a:p>
      </dgm:t>
    </dgm:pt>
    <dgm:pt modelId="{E84CB61F-9B61-41CE-8956-22A33203F1C8}" type="parTrans" cxnId="{138E6A58-A34F-444C-85D9-5B5E6D8BE5B1}">
      <dgm:prSet/>
      <dgm:spPr/>
      <dgm:t>
        <a:bodyPr/>
        <a:lstStyle/>
        <a:p>
          <a:endParaRPr lang="en-US"/>
        </a:p>
      </dgm:t>
    </dgm:pt>
    <dgm:pt modelId="{25B7F948-ABCD-4A06-AAFE-C50754CCCAA6}" type="sibTrans" cxnId="{138E6A58-A34F-444C-85D9-5B5E6D8BE5B1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77D04406-925C-4A31-91AA-CA26413E6DA0}" type="pres">
      <dgm:prSet presAssocID="{5EFFF34B-ECB0-48E8-B24C-3D5451BE6BE6}" presName="Name0" presStyleCnt="0">
        <dgm:presLayoutVars>
          <dgm:animLvl val="lvl"/>
          <dgm:resizeHandles val="exact"/>
        </dgm:presLayoutVars>
      </dgm:prSet>
      <dgm:spPr/>
    </dgm:pt>
    <dgm:pt modelId="{88D89F2E-EEBD-4A4F-9827-CF8F9D7600AE}" type="pres">
      <dgm:prSet presAssocID="{E2CB7B54-D255-458D-88E1-A20D0D908CBF}" presName="compositeNode" presStyleCnt="0">
        <dgm:presLayoutVars>
          <dgm:bulletEnabled val="1"/>
        </dgm:presLayoutVars>
      </dgm:prSet>
      <dgm:spPr/>
    </dgm:pt>
    <dgm:pt modelId="{DFEE06BB-1E8A-4EAF-89C8-12F375B11CD3}" type="pres">
      <dgm:prSet presAssocID="{E2CB7B54-D255-458D-88E1-A20D0D908CBF}" presName="bgRect" presStyleLbl="bgAccFollowNode1" presStyleIdx="0" presStyleCnt="5"/>
      <dgm:spPr/>
    </dgm:pt>
    <dgm:pt modelId="{3E500877-9120-47D7-88FC-892CEE78304F}" type="pres">
      <dgm:prSet presAssocID="{FA98638D-6127-4CEE-9E75-6D07D304A14D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BEE2E5CE-417B-406E-A029-2D4DDF103FDD}" type="pres">
      <dgm:prSet presAssocID="{E2CB7B54-D255-458D-88E1-A20D0D908CBF}" presName="bottomLine" presStyleLbl="alignNode1" presStyleIdx="1" presStyleCnt="10">
        <dgm:presLayoutVars/>
      </dgm:prSet>
      <dgm:spPr/>
    </dgm:pt>
    <dgm:pt modelId="{A08240CF-58F8-4D5F-A828-7114C9FD911B}" type="pres">
      <dgm:prSet presAssocID="{E2CB7B54-D255-458D-88E1-A20D0D908CBF}" presName="nodeText" presStyleLbl="bgAccFollowNode1" presStyleIdx="0" presStyleCnt="5">
        <dgm:presLayoutVars>
          <dgm:bulletEnabled val="1"/>
        </dgm:presLayoutVars>
      </dgm:prSet>
      <dgm:spPr/>
    </dgm:pt>
    <dgm:pt modelId="{1C60DEC7-E1D7-460D-987E-B13EBA30B814}" type="pres">
      <dgm:prSet presAssocID="{FA98638D-6127-4CEE-9E75-6D07D304A14D}" presName="sibTrans" presStyleCnt="0"/>
      <dgm:spPr/>
    </dgm:pt>
    <dgm:pt modelId="{04E83348-41A9-4AC4-82F4-D5019B58FD64}" type="pres">
      <dgm:prSet presAssocID="{DE2CC826-E45B-4BB6-84D4-2619D0F8EC31}" presName="compositeNode" presStyleCnt="0">
        <dgm:presLayoutVars>
          <dgm:bulletEnabled val="1"/>
        </dgm:presLayoutVars>
      </dgm:prSet>
      <dgm:spPr/>
    </dgm:pt>
    <dgm:pt modelId="{4F80A064-800A-4B7E-9433-BA36ACE937BA}" type="pres">
      <dgm:prSet presAssocID="{DE2CC826-E45B-4BB6-84D4-2619D0F8EC31}" presName="bgRect" presStyleLbl="bgAccFollowNode1" presStyleIdx="1" presStyleCnt="5"/>
      <dgm:spPr/>
    </dgm:pt>
    <dgm:pt modelId="{A9BC6F45-0598-4946-80FE-4E6301326C4F}" type="pres">
      <dgm:prSet presAssocID="{553C6E84-1257-4157-A7E6-9F636B659BBA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166E75A1-788A-4A2A-8708-B7987494E888}" type="pres">
      <dgm:prSet presAssocID="{DE2CC826-E45B-4BB6-84D4-2619D0F8EC31}" presName="bottomLine" presStyleLbl="alignNode1" presStyleIdx="3" presStyleCnt="10">
        <dgm:presLayoutVars/>
      </dgm:prSet>
      <dgm:spPr/>
    </dgm:pt>
    <dgm:pt modelId="{FDB2D4FF-4E71-492A-8E64-21EDDDFC7088}" type="pres">
      <dgm:prSet presAssocID="{DE2CC826-E45B-4BB6-84D4-2619D0F8EC31}" presName="nodeText" presStyleLbl="bgAccFollowNode1" presStyleIdx="1" presStyleCnt="5">
        <dgm:presLayoutVars>
          <dgm:bulletEnabled val="1"/>
        </dgm:presLayoutVars>
      </dgm:prSet>
      <dgm:spPr/>
    </dgm:pt>
    <dgm:pt modelId="{68102B64-17EE-4F51-AF1D-795284D2BF5A}" type="pres">
      <dgm:prSet presAssocID="{553C6E84-1257-4157-A7E6-9F636B659BBA}" presName="sibTrans" presStyleCnt="0"/>
      <dgm:spPr/>
    </dgm:pt>
    <dgm:pt modelId="{72E4804F-AA43-409D-A1F4-D67594CDDAC1}" type="pres">
      <dgm:prSet presAssocID="{E122B496-8B1C-40D6-8A27-FE2DB5F34E10}" presName="compositeNode" presStyleCnt="0">
        <dgm:presLayoutVars>
          <dgm:bulletEnabled val="1"/>
        </dgm:presLayoutVars>
      </dgm:prSet>
      <dgm:spPr/>
    </dgm:pt>
    <dgm:pt modelId="{ED803320-5781-431C-A6BD-3D56E32FA2AD}" type="pres">
      <dgm:prSet presAssocID="{E122B496-8B1C-40D6-8A27-FE2DB5F34E10}" presName="bgRect" presStyleLbl="bgAccFollowNode1" presStyleIdx="2" presStyleCnt="5"/>
      <dgm:spPr/>
    </dgm:pt>
    <dgm:pt modelId="{EDABA5B8-15B1-4D5F-94D5-55E1A6021A73}" type="pres">
      <dgm:prSet presAssocID="{9FAA96C3-7DB8-4578-874E-5E7F6BB47891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5F8A15B3-39D0-47F6-80BD-1A53E5E858B2}" type="pres">
      <dgm:prSet presAssocID="{E122B496-8B1C-40D6-8A27-FE2DB5F34E10}" presName="bottomLine" presStyleLbl="alignNode1" presStyleIdx="5" presStyleCnt="10">
        <dgm:presLayoutVars/>
      </dgm:prSet>
      <dgm:spPr/>
    </dgm:pt>
    <dgm:pt modelId="{9747923E-4711-4BEF-8D7B-318D0FBA8363}" type="pres">
      <dgm:prSet presAssocID="{E122B496-8B1C-40D6-8A27-FE2DB5F34E10}" presName="nodeText" presStyleLbl="bgAccFollowNode1" presStyleIdx="2" presStyleCnt="5">
        <dgm:presLayoutVars>
          <dgm:bulletEnabled val="1"/>
        </dgm:presLayoutVars>
      </dgm:prSet>
      <dgm:spPr/>
    </dgm:pt>
    <dgm:pt modelId="{64D98C02-D044-4F2F-8073-117040A20987}" type="pres">
      <dgm:prSet presAssocID="{9FAA96C3-7DB8-4578-874E-5E7F6BB47891}" presName="sibTrans" presStyleCnt="0"/>
      <dgm:spPr/>
    </dgm:pt>
    <dgm:pt modelId="{79C21546-DFBE-4970-8DFC-1E4C54511717}" type="pres">
      <dgm:prSet presAssocID="{B54237CF-5B8F-4B8B-8D1E-06BC58516C10}" presName="compositeNode" presStyleCnt="0">
        <dgm:presLayoutVars>
          <dgm:bulletEnabled val="1"/>
        </dgm:presLayoutVars>
      </dgm:prSet>
      <dgm:spPr/>
    </dgm:pt>
    <dgm:pt modelId="{6B4773A1-B70C-4CC4-8D73-BB75A46F5C6A}" type="pres">
      <dgm:prSet presAssocID="{B54237CF-5B8F-4B8B-8D1E-06BC58516C10}" presName="bgRect" presStyleLbl="bgAccFollowNode1" presStyleIdx="3" presStyleCnt="5"/>
      <dgm:spPr/>
    </dgm:pt>
    <dgm:pt modelId="{9277CA16-C961-4B44-9011-83846B9428DB}" type="pres">
      <dgm:prSet presAssocID="{3E3134CA-01BD-4B64-9530-4A22A2CBB319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F900947-9C24-4B30-84D4-EE6E5E4AC363}" type="pres">
      <dgm:prSet presAssocID="{B54237CF-5B8F-4B8B-8D1E-06BC58516C10}" presName="bottomLine" presStyleLbl="alignNode1" presStyleIdx="7" presStyleCnt="10">
        <dgm:presLayoutVars/>
      </dgm:prSet>
      <dgm:spPr/>
    </dgm:pt>
    <dgm:pt modelId="{661215D3-A03F-45DA-BDBF-751F06BEE396}" type="pres">
      <dgm:prSet presAssocID="{B54237CF-5B8F-4B8B-8D1E-06BC58516C10}" presName="nodeText" presStyleLbl="bgAccFollowNode1" presStyleIdx="3" presStyleCnt="5">
        <dgm:presLayoutVars>
          <dgm:bulletEnabled val="1"/>
        </dgm:presLayoutVars>
      </dgm:prSet>
      <dgm:spPr/>
    </dgm:pt>
    <dgm:pt modelId="{D22B027A-95DB-4FD1-8A52-05202C884C75}" type="pres">
      <dgm:prSet presAssocID="{3E3134CA-01BD-4B64-9530-4A22A2CBB319}" presName="sibTrans" presStyleCnt="0"/>
      <dgm:spPr/>
    </dgm:pt>
    <dgm:pt modelId="{BCC142E9-4053-42B3-A996-62BA7F5AF505}" type="pres">
      <dgm:prSet presAssocID="{45E6AEC3-C24E-4935-AD98-2A797498CEAE}" presName="compositeNode" presStyleCnt="0">
        <dgm:presLayoutVars>
          <dgm:bulletEnabled val="1"/>
        </dgm:presLayoutVars>
      </dgm:prSet>
      <dgm:spPr/>
    </dgm:pt>
    <dgm:pt modelId="{45251987-B8BD-4BAF-971F-941C1C9ED82C}" type="pres">
      <dgm:prSet presAssocID="{45E6AEC3-C24E-4935-AD98-2A797498CEAE}" presName="bgRect" presStyleLbl="bgAccFollowNode1" presStyleIdx="4" presStyleCnt="5"/>
      <dgm:spPr/>
    </dgm:pt>
    <dgm:pt modelId="{66DF17FB-DC4A-44E5-BA70-A12BBA3D5065}" type="pres">
      <dgm:prSet presAssocID="{25B7F948-ABCD-4A06-AAFE-C50754CCCAA6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CE95C54B-C886-44D4-92F2-4BEEE7D5F1C0}" type="pres">
      <dgm:prSet presAssocID="{45E6AEC3-C24E-4935-AD98-2A797498CEAE}" presName="bottomLine" presStyleLbl="alignNode1" presStyleIdx="9" presStyleCnt="10">
        <dgm:presLayoutVars/>
      </dgm:prSet>
      <dgm:spPr/>
    </dgm:pt>
    <dgm:pt modelId="{5E932020-ED0B-4CBD-8B94-17C336E7A32F}" type="pres">
      <dgm:prSet presAssocID="{45E6AEC3-C24E-4935-AD98-2A797498CEAE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A4BC9300-1EA2-42AD-BFCC-B77D29566C5F}" type="presOf" srcId="{E2CB7B54-D255-458D-88E1-A20D0D908CBF}" destId="{A08240CF-58F8-4D5F-A828-7114C9FD911B}" srcOrd="1" destOrd="0" presId="urn:microsoft.com/office/officeart/2016/7/layout/BasicLinearProcessNumbered"/>
    <dgm:cxn modelId="{3B99B52D-CB3F-42D1-9E4F-186A49C29CD3}" type="presOf" srcId="{B54237CF-5B8F-4B8B-8D1E-06BC58516C10}" destId="{6B4773A1-B70C-4CC4-8D73-BB75A46F5C6A}" srcOrd="0" destOrd="0" presId="urn:microsoft.com/office/officeart/2016/7/layout/BasicLinearProcessNumbered"/>
    <dgm:cxn modelId="{FD2E2833-E99B-4763-82D0-1AD4F16D536F}" type="presOf" srcId="{25B7F948-ABCD-4A06-AAFE-C50754CCCAA6}" destId="{66DF17FB-DC4A-44E5-BA70-A12BBA3D5065}" srcOrd="0" destOrd="0" presId="urn:microsoft.com/office/officeart/2016/7/layout/BasicLinearProcessNumbered"/>
    <dgm:cxn modelId="{78C42B40-74F6-41B1-BEFF-DB50D6DE096F}" type="presOf" srcId="{553C6E84-1257-4157-A7E6-9F636B659BBA}" destId="{A9BC6F45-0598-4946-80FE-4E6301326C4F}" srcOrd="0" destOrd="0" presId="urn:microsoft.com/office/officeart/2016/7/layout/BasicLinearProcessNumbered"/>
    <dgm:cxn modelId="{50B9885F-E74A-4551-B6DA-ED023A86F213}" srcId="{5EFFF34B-ECB0-48E8-B24C-3D5451BE6BE6}" destId="{DE2CC826-E45B-4BB6-84D4-2619D0F8EC31}" srcOrd="1" destOrd="0" parTransId="{B0D3B97B-5B05-4417-AF7D-65646708B208}" sibTransId="{553C6E84-1257-4157-A7E6-9F636B659BBA}"/>
    <dgm:cxn modelId="{CB840646-E25C-4CD7-B167-B92CE2207DD1}" srcId="{5EFFF34B-ECB0-48E8-B24C-3D5451BE6BE6}" destId="{E2CB7B54-D255-458D-88E1-A20D0D908CBF}" srcOrd="0" destOrd="0" parTransId="{9BC91E80-4443-46D3-9520-3AA1CA40A780}" sibTransId="{FA98638D-6127-4CEE-9E75-6D07D304A14D}"/>
    <dgm:cxn modelId="{4E8D8A46-6809-40D8-9B7D-A1EFFF6E1726}" type="presOf" srcId="{E122B496-8B1C-40D6-8A27-FE2DB5F34E10}" destId="{9747923E-4711-4BEF-8D7B-318D0FBA8363}" srcOrd="1" destOrd="0" presId="urn:microsoft.com/office/officeart/2016/7/layout/BasicLinearProcessNumbered"/>
    <dgm:cxn modelId="{F5BE674E-8912-46EE-A764-3C7892A2DF4C}" type="presOf" srcId="{E122B496-8B1C-40D6-8A27-FE2DB5F34E10}" destId="{ED803320-5781-431C-A6BD-3D56E32FA2AD}" srcOrd="0" destOrd="0" presId="urn:microsoft.com/office/officeart/2016/7/layout/BasicLinearProcessNumbered"/>
    <dgm:cxn modelId="{66483D70-28D4-4669-9235-4C613546F5BB}" type="presOf" srcId="{9FAA96C3-7DB8-4578-874E-5E7F6BB47891}" destId="{EDABA5B8-15B1-4D5F-94D5-55E1A6021A73}" srcOrd="0" destOrd="0" presId="urn:microsoft.com/office/officeart/2016/7/layout/BasicLinearProcessNumbered"/>
    <dgm:cxn modelId="{D31F6F71-3514-4D5D-BB72-61FF4071F495}" type="presOf" srcId="{45E6AEC3-C24E-4935-AD98-2A797498CEAE}" destId="{45251987-B8BD-4BAF-971F-941C1C9ED82C}" srcOrd="0" destOrd="0" presId="urn:microsoft.com/office/officeart/2016/7/layout/BasicLinearProcessNumbered"/>
    <dgm:cxn modelId="{B71F2256-D199-46FB-A08F-505CD8E4A8D1}" type="presOf" srcId="{B54237CF-5B8F-4B8B-8D1E-06BC58516C10}" destId="{661215D3-A03F-45DA-BDBF-751F06BEE396}" srcOrd="1" destOrd="0" presId="urn:microsoft.com/office/officeart/2016/7/layout/BasicLinearProcessNumbered"/>
    <dgm:cxn modelId="{F3E05E76-0FD9-4B0F-B5FA-BE240D3C425B}" type="presOf" srcId="{5EFFF34B-ECB0-48E8-B24C-3D5451BE6BE6}" destId="{77D04406-925C-4A31-91AA-CA26413E6DA0}" srcOrd="0" destOrd="0" presId="urn:microsoft.com/office/officeart/2016/7/layout/BasicLinearProcessNumbered"/>
    <dgm:cxn modelId="{138E6A58-A34F-444C-85D9-5B5E6D8BE5B1}" srcId="{5EFFF34B-ECB0-48E8-B24C-3D5451BE6BE6}" destId="{45E6AEC3-C24E-4935-AD98-2A797498CEAE}" srcOrd="4" destOrd="0" parTransId="{E84CB61F-9B61-41CE-8956-22A33203F1C8}" sibTransId="{25B7F948-ABCD-4A06-AAFE-C50754CCCAA6}"/>
    <dgm:cxn modelId="{1412CC7B-FA38-491D-9CC2-E94B1543116B}" type="presOf" srcId="{DE2CC826-E45B-4BB6-84D4-2619D0F8EC31}" destId="{FDB2D4FF-4E71-492A-8E64-21EDDDFC7088}" srcOrd="1" destOrd="0" presId="urn:microsoft.com/office/officeart/2016/7/layout/BasicLinearProcessNumbered"/>
    <dgm:cxn modelId="{D8345693-33B3-47DB-9BFE-35F366ED7C0E}" type="presOf" srcId="{3E3134CA-01BD-4B64-9530-4A22A2CBB319}" destId="{9277CA16-C961-4B44-9011-83846B9428DB}" srcOrd="0" destOrd="0" presId="urn:microsoft.com/office/officeart/2016/7/layout/BasicLinearProcessNumbered"/>
    <dgm:cxn modelId="{07CB0B94-823C-4554-A9E2-D36BE6763F23}" type="presOf" srcId="{FA98638D-6127-4CEE-9E75-6D07D304A14D}" destId="{3E500877-9120-47D7-88FC-892CEE78304F}" srcOrd="0" destOrd="0" presId="urn:microsoft.com/office/officeart/2016/7/layout/BasicLinearProcessNumbered"/>
    <dgm:cxn modelId="{984604AF-2188-4DB8-9117-2620322C73C3}" srcId="{5EFFF34B-ECB0-48E8-B24C-3D5451BE6BE6}" destId="{E122B496-8B1C-40D6-8A27-FE2DB5F34E10}" srcOrd="2" destOrd="0" parTransId="{4E0AE453-496B-4AC3-8608-5433DC1FEB56}" sibTransId="{9FAA96C3-7DB8-4578-874E-5E7F6BB47891}"/>
    <dgm:cxn modelId="{0017C6B0-7B9A-4FDF-B824-FAE58B2109FF}" srcId="{5EFFF34B-ECB0-48E8-B24C-3D5451BE6BE6}" destId="{B54237CF-5B8F-4B8B-8D1E-06BC58516C10}" srcOrd="3" destOrd="0" parTransId="{EDF51DD2-FA83-4821-A278-9B64DB6ED02E}" sibTransId="{3E3134CA-01BD-4B64-9530-4A22A2CBB319}"/>
    <dgm:cxn modelId="{014FC1B9-5559-49FF-A2C6-604E02CD28B5}" type="presOf" srcId="{45E6AEC3-C24E-4935-AD98-2A797498CEAE}" destId="{5E932020-ED0B-4CBD-8B94-17C336E7A32F}" srcOrd="1" destOrd="0" presId="urn:microsoft.com/office/officeart/2016/7/layout/BasicLinearProcessNumbered"/>
    <dgm:cxn modelId="{117C91D1-2ED9-46A3-A285-65535F003CFA}" type="presOf" srcId="{E2CB7B54-D255-458D-88E1-A20D0D908CBF}" destId="{DFEE06BB-1E8A-4EAF-89C8-12F375B11CD3}" srcOrd="0" destOrd="0" presId="urn:microsoft.com/office/officeart/2016/7/layout/BasicLinearProcessNumbered"/>
    <dgm:cxn modelId="{AD2BC9F1-270B-4DF7-9C78-41376F92C44E}" type="presOf" srcId="{DE2CC826-E45B-4BB6-84D4-2619D0F8EC31}" destId="{4F80A064-800A-4B7E-9433-BA36ACE937BA}" srcOrd="0" destOrd="0" presId="urn:microsoft.com/office/officeart/2016/7/layout/BasicLinearProcessNumbered"/>
    <dgm:cxn modelId="{CFFD258F-5E56-4CB8-BA93-E65AD34CF053}" type="presParOf" srcId="{77D04406-925C-4A31-91AA-CA26413E6DA0}" destId="{88D89F2E-EEBD-4A4F-9827-CF8F9D7600AE}" srcOrd="0" destOrd="0" presId="urn:microsoft.com/office/officeart/2016/7/layout/BasicLinearProcessNumbered"/>
    <dgm:cxn modelId="{3B6A4725-0259-4BA1-907A-67EBD04075E1}" type="presParOf" srcId="{88D89F2E-EEBD-4A4F-9827-CF8F9D7600AE}" destId="{DFEE06BB-1E8A-4EAF-89C8-12F375B11CD3}" srcOrd="0" destOrd="0" presId="urn:microsoft.com/office/officeart/2016/7/layout/BasicLinearProcessNumbered"/>
    <dgm:cxn modelId="{3260BD01-2CB9-43F3-A483-8CA9AE5B8A3B}" type="presParOf" srcId="{88D89F2E-EEBD-4A4F-9827-CF8F9D7600AE}" destId="{3E500877-9120-47D7-88FC-892CEE78304F}" srcOrd="1" destOrd="0" presId="urn:microsoft.com/office/officeart/2016/7/layout/BasicLinearProcessNumbered"/>
    <dgm:cxn modelId="{40FB9C16-1F88-426B-8884-68EEA604A0EA}" type="presParOf" srcId="{88D89F2E-EEBD-4A4F-9827-CF8F9D7600AE}" destId="{BEE2E5CE-417B-406E-A029-2D4DDF103FDD}" srcOrd="2" destOrd="0" presId="urn:microsoft.com/office/officeart/2016/7/layout/BasicLinearProcessNumbered"/>
    <dgm:cxn modelId="{8693F0BB-0A7A-4132-81C7-F7400AD44751}" type="presParOf" srcId="{88D89F2E-EEBD-4A4F-9827-CF8F9D7600AE}" destId="{A08240CF-58F8-4D5F-A828-7114C9FD911B}" srcOrd="3" destOrd="0" presId="urn:microsoft.com/office/officeart/2016/7/layout/BasicLinearProcessNumbered"/>
    <dgm:cxn modelId="{CB95C5FA-9E14-41DC-99A8-84198040F4AB}" type="presParOf" srcId="{77D04406-925C-4A31-91AA-CA26413E6DA0}" destId="{1C60DEC7-E1D7-460D-987E-B13EBA30B814}" srcOrd="1" destOrd="0" presId="urn:microsoft.com/office/officeart/2016/7/layout/BasicLinearProcessNumbered"/>
    <dgm:cxn modelId="{3FD38712-438D-45A7-97CB-72F0FEE94E49}" type="presParOf" srcId="{77D04406-925C-4A31-91AA-CA26413E6DA0}" destId="{04E83348-41A9-4AC4-82F4-D5019B58FD64}" srcOrd="2" destOrd="0" presId="urn:microsoft.com/office/officeart/2016/7/layout/BasicLinearProcessNumbered"/>
    <dgm:cxn modelId="{C3198584-EB5A-47C0-9207-AA9F08072E9E}" type="presParOf" srcId="{04E83348-41A9-4AC4-82F4-D5019B58FD64}" destId="{4F80A064-800A-4B7E-9433-BA36ACE937BA}" srcOrd="0" destOrd="0" presId="urn:microsoft.com/office/officeart/2016/7/layout/BasicLinearProcessNumbered"/>
    <dgm:cxn modelId="{C596BBE5-829D-46FA-A5E6-04C3B84F0B22}" type="presParOf" srcId="{04E83348-41A9-4AC4-82F4-D5019B58FD64}" destId="{A9BC6F45-0598-4946-80FE-4E6301326C4F}" srcOrd="1" destOrd="0" presId="urn:microsoft.com/office/officeart/2016/7/layout/BasicLinearProcessNumbered"/>
    <dgm:cxn modelId="{2309EA74-9225-476D-A2B5-22C371EB489E}" type="presParOf" srcId="{04E83348-41A9-4AC4-82F4-D5019B58FD64}" destId="{166E75A1-788A-4A2A-8708-B7987494E888}" srcOrd="2" destOrd="0" presId="urn:microsoft.com/office/officeart/2016/7/layout/BasicLinearProcessNumbered"/>
    <dgm:cxn modelId="{8D68B6A2-179C-423D-9FB3-7E07475EFC88}" type="presParOf" srcId="{04E83348-41A9-4AC4-82F4-D5019B58FD64}" destId="{FDB2D4FF-4E71-492A-8E64-21EDDDFC7088}" srcOrd="3" destOrd="0" presId="urn:microsoft.com/office/officeart/2016/7/layout/BasicLinearProcessNumbered"/>
    <dgm:cxn modelId="{D2AFF2F5-0694-437B-BED5-1D5FCC428793}" type="presParOf" srcId="{77D04406-925C-4A31-91AA-CA26413E6DA0}" destId="{68102B64-17EE-4F51-AF1D-795284D2BF5A}" srcOrd="3" destOrd="0" presId="urn:microsoft.com/office/officeart/2016/7/layout/BasicLinearProcessNumbered"/>
    <dgm:cxn modelId="{3136300E-2F4D-4F92-9E79-6C4E642736A5}" type="presParOf" srcId="{77D04406-925C-4A31-91AA-CA26413E6DA0}" destId="{72E4804F-AA43-409D-A1F4-D67594CDDAC1}" srcOrd="4" destOrd="0" presId="urn:microsoft.com/office/officeart/2016/7/layout/BasicLinearProcessNumbered"/>
    <dgm:cxn modelId="{966EC659-A8AD-444D-A06D-1683EA352299}" type="presParOf" srcId="{72E4804F-AA43-409D-A1F4-D67594CDDAC1}" destId="{ED803320-5781-431C-A6BD-3D56E32FA2AD}" srcOrd="0" destOrd="0" presId="urn:microsoft.com/office/officeart/2016/7/layout/BasicLinearProcessNumbered"/>
    <dgm:cxn modelId="{CD51F5AD-C6A2-4A45-9ACE-BC72599FCBCF}" type="presParOf" srcId="{72E4804F-AA43-409D-A1F4-D67594CDDAC1}" destId="{EDABA5B8-15B1-4D5F-94D5-55E1A6021A73}" srcOrd="1" destOrd="0" presId="urn:microsoft.com/office/officeart/2016/7/layout/BasicLinearProcessNumbered"/>
    <dgm:cxn modelId="{E7786E15-008F-46F1-AF55-D58AE4CB66DD}" type="presParOf" srcId="{72E4804F-AA43-409D-A1F4-D67594CDDAC1}" destId="{5F8A15B3-39D0-47F6-80BD-1A53E5E858B2}" srcOrd="2" destOrd="0" presId="urn:microsoft.com/office/officeart/2016/7/layout/BasicLinearProcessNumbered"/>
    <dgm:cxn modelId="{217F48D5-52AA-47D8-A0A1-A90BEA0DF6A0}" type="presParOf" srcId="{72E4804F-AA43-409D-A1F4-D67594CDDAC1}" destId="{9747923E-4711-4BEF-8D7B-318D0FBA8363}" srcOrd="3" destOrd="0" presId="urn:microsoft.com/office/officeart/2016/7/layout/BasicLinearProcessNumbered"/>
    <dgm:cxn modelId="{88F3172E-0CF1-4D0B-80E9-369CED26FC6B}" type="presParOf" srcId="{77D04406-925C-4A31-91AA-CA26413E6DA0}" destId="{64D98C02-D044-4F2F-8073-117040A20987}" srcOrd="5" destOrd="0" presId="urn:microsoft.com/office/officeart/2016/7/layout/BasicLinearProcessNumbered"/>
    <dgm:cxn modelId="{F15C2B51-7BCE-43C7-BABF-3D232E1FEF1E}" type="presParOf" srcId="{77D04406-925C-4A31-91AA-CA26413E6DA0}" destId="{79C21546-DFBE-4970-8DFC-1E4C54511717}" srcOrd="6" destOrd="0" presId="urn:microsoft.com/office/officeart/2016/7/layout/BasicLinearProcessNumbered"/>
    <dgm:cxn modelId="{DC8F324F-1E28-4E70-91B9-CF3E5CAB32CC}" type="presParOf" srcId="{79C21546-DFBE-4970-8DFC-1E4C54511717}" destId="{6B4773A1-B70C-4CC4-8D73-BB75A46F5C6A}" srcOrd="0" destOrd="0" presId="urn:microsoft.com/office/officeart/2016/7/layout/BasicLinearProcessNumbered"/>
    <dgm:cxn modelId="{6F841F4B-3435-4AE9-87D0-6ECE97CB0DC4}" type="presParOf" srcId="{79C21546-DFBE-4970-8DFC-1E4C54511717}" destId="{9277CA16-C961-4B44-9011-83846B9428DB}" srcOrd="1" destOrd="0" presId="urn:microsoft.com/office/officeart/2016/7/layout/BasicLinearProcessNumbered"/>
    <dgm:cxn modelId="{87434B7F-61D6-4001-9C02-E6925DCFEFCC}" type="presParOf" srcId="{79C21546-DFBE-4970-8DFC-1E4C54511717}" destId="{6F900947-9C24-4B30-84D4-EE6E5E4AC363}" srcOrd="2" destOrd="0" presId="urn:microsoft.com/office/officeart/2016/7/layout/BasicLinearProcessNumbered"/>
    <dgm:cxn modelId="{99DBA595-90F2-4D83-BFB4-C89301F58C6B}" type="presParOf" srcId="{79C21546-DFBE-4970-8DFC-1E4C54511717}" destId="{661215D3-A03F-45DA-BDBF-751F06BEE396}" srcOrd="3" destOrd="0" presId="urn:microsoft.com/office/officeart/2016/7/layout/BasicLinearProcessNumbered"/>
    <dgm:cxn modelId="{6076A921-17F5-4A16-9CBB-FE6B57E20A61}" type="presParOf" srcId="{77D04406-925C-4A31-91AA-CA26413E6DA0}" destId="{D22B027A-95DB-4FD1-8A52-05202C884C75}" srcOrd="7" destOrd="0" presId="urn:microsoft.com/office/officeart/2016/7/layout/BasicLinearProcessNumbered"/>
    <dgm:cxn modelId="{DAE1E035-DA58-4E7B-AD6E-D711FA02DFD6}" type="presParOf" srcId="{77D04406-925C-4A31-91AA-CA26413E6DA0}" destId="{BCC142E9-4053-42B3-A996-62BA7F5AF505}" srcOrd="8" destOrd="0" presId="urn:microsoft.com/office/officeart/2016/7/layout/BasicLinearProcessNumbered"/>
    <dgm:cxn modelId="{9411846C-6BC5-46A2-AA27-F092AF6CE5E6}" type="presParOf" srcId="{BCC142E9-4053-42B3-A996-62BA7F5AF505}" destId="{45251987-B8BD-4BAF-971F-941C1C9ED82C}" srcOrd="0" destOrd="0" presId="urn:microsoft.com/office/officeart/2016/7/layout/BasicLinearProcessNumbered"/>
    <dgm:cxn modelId="{BBEA664A-06C3-492A-BBB6-C1FA8F9D4A63}" type="presParOf" srcId="{BCC142E9-4053-42B3-A996-62BA7F5AF505}" destId="{66DF17FB-DC4A-44E5-BA70-A12BBA3D5065}" srcOrd="1" destOrd="0" presId="urn:microsoft.com/office/officeart/2016/7/layout/BasicLinearProcessNumbered"/>
    <dgm:cxn modelId="{EC6AA40A-FC40-4D32-8E82-148B5B7518F4}" type="presParOf" srcId="{BCC142E9-4053-42B3-A996-62BA7F5AF505}" destId="{CE95C54B-C886-44D4-92F2-4BEEE7D5F1C0}" srcOrd="2" destOrd="0" presId="urn:microsoft.com/office/officeart/2016/7/layout/BasicLinearProcessNumbered"/>
    <dgm:cxn modelId="{C7A8AF73-4B95-4EAA-9250-C9AE0AA3B793}" type="presParOf" srcId="{BCC142E9-4053-42B3-A996-62BA7F5AF505}" destId="{5E932020-ED0B-4CBD-8B94-17C336E7A32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8BBF8B-282C-459D-8A0B-04205802BCC2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03C453D-CE3B-49D6-9210-F12C742C72A2}">
      <dgm:prSet/>
      <dgm:spPr/>
      <dgm:t>
        <a:bodyPr/>
        <a:lstStyle/>
        <a:p>
          <a:r>
            <a:rPr lang="en-US" b="0" i="0" baseline="0"/>
            <a:t>Treemap: employment size and median wage by occupation (OEWS) </a:t>
          </a:r>
          <a:endParaRPr lang="en-US"/>
        </a:p>
      </dgm:t>
    </dgm:pt>
    <dgm:pt modelId="{0907F03A-DFEA-4B20-8A50-54886724ED8F}" type="parTrans" cxnId="{9D96A039-B4E3-421C-AE9C-FD6B1FC58D61}">
      <dgm:prSet/>
      <dgm:spPr/>
      <dgm:t>
        <a:bodyPr/>
        <a:lstStyle/>
        <a:p>
          <a:endParaRPr lang="en-US"/>
        </a:p>
      </dgm:t>
    </dgm:pt>
    <dgm:pt modelId="{90588380-0FC8-431C-8F10-405C136176B8}" type="sibTrans" cxnId="{9D96A039-B4E3-421C-AE9C-FD6B1FC58D61}">
      <dgm:prSet/>
      <dgm:spPr/>
      <dgm:t>
        <a:bodyPr/>
        <a:lstStyle/>
        <a:p>
          <a:endParaRPr lang="en-US"/>
        </a:p>
      </dgm:t>
    </dgm:pt>
    <dgm:pt modelId="{EEFCEC17-2C47-4E8F-906D-EDD967475FD8}">
      <dgm:prSet/>
      <dgm:spPr/>
      <dgm:t>
        <a:bodyPr/>
        <a:lstStyle/>
        <a:p>
          <a:r>
            <a:rPr lang="en-US" b="0" i="0" baseline="0"/>
            <a:t>KDEs: wage distributions by race for full‑time workers (ACS) </a:t>
          </a:r>
          <a:endParaRPr lang="en-US"/>
        </a:p>
      </dgm:t>
    </dgm:pt>
    <dgm:pt modelId="{ACC2BEF5-7F3E-4548-A035-A96063C542F6}" type="parTrans" cxnId="{2F41CC6D-9775-42D2-B425-1DA48C59E922}">
      <dgm:prSet/>
      <dgm:spPr/>
      <dgm:t>
        <a:bodyPr/>
        <a:lstStyle/>
        <a:p>
          <a:endParaRPr lang="en-US"/>
        </a:p>
      </dgm:t>
    </dgm:pt>
    <dgm:pt modelId="{28A2C39F-779D-4827-A489-AD04942CD75E}" type="sibTrans" cxnId="{2F41CC6D-9775-42D2-B425-1DA48C59E922}">
      <dgm:prSet/>
      <dgm:spPr/>
      <dgm:t>
        <a:bodyPr/>
        <a:lstStyle/>
        <a:p>
          <a:endParaRPr lang="en-US"/>
        </a:p>
      </dgm:t>
    </dgm:pt>
    <dgm:pt modelId="{CF0BCAB0-CBDF-4901-810B-FCCFB2209F93}">
      <dgm:prSet/>
      <dgm:spPr/>
      <dgm:t>
        <a:bodyPr/>
        <a:lstStyle/>
        <a:p>
          <a:r>
            <a:rPr lang="en-US" b="0" i="0" baseline="0"/>
            <a:t>Dumbbell chart: male vs female median wages by occupation (ACS) </a:t>
          </a:r>
          <a:endParaRPr lang="en-US"/>
        </a:p>
      </dgm:t>
    </dgm:pt>
    <dgm:pt modelId="{448FD99D-D614-485D-B006-2CD56F478FD1}" type="parTrans" cxnId="{5C6C8873-12B3-413A-A558-A982ACC09254}">
      <dgm:prSet/>
      <dgm:spPr/>
      <dgm:t>
        <a:bodyPr/>
        <a:lstStyle/>
        <a:p>
          <a:endParaRPr lang="en-US"/>
        </a:p>
      </dgm:t>
    </dgm:pt>
    <dgm:pt modelId="{0FF3B560-B776-4E6E-9606-3042DBC048A8}" type="sibTrans" cxnId="{5C6C8873-12B3-413A-A558-A982ACC09254}">
      <dgm:prSet/>
      <dgm:spPr/>
      <dgm:t>
        <a:bodyPr/>
        <a:lstStyle/>
        <a:p>
          <a:endParaRPr lang="en-US"/>
        </a:p>
      </dgm:t>
    </dgm:pt>
    <dgm:pt modelId="{D84BB223-9579-41A1-940A-BD34DFF9F2E1}">
      <dgm:prSet/>
      <dgm:spPr/>
      <dgm:t>
        <a:bodyPr/>
        <a:lstStyle/>
        <a:p>
          <a:r>
            <a:rPr lang="en-US" b="0" i="0" baseline="0"/>
            <a:t>Heatmap: education × occupation wage interaction; top majors by wage </a:t>
          </a:r>
          <a:endParaRPr lang="en-US"/>
        </a:p>
      </dgm:t>
    </dgm:pt>
    <dgm:pt modelId="{5A86F097-5005-4A3B-BB22-02E0AF509452}" type="parTrans" cxnId="{FA586565-2E7D-4F67-919E-A5984C9C0722}">
      <dgm:prSet/>
      <dgm:spPr/>
      <dgm:t>
        <a:bodyPr/>
        <a:lstStyle/>
        <a:p>
          <a:endParaRPr lang="en-US"/>
        </a:p>
      </dgm:t>
    </dgm:pt>
    <dgm:pt modelId="{52219956-7412-40C1-987F-29EE454CB8B7}" type="sibTrans" cxnId="{FA586565-2E7D-4F67-919E-A5984C9C0722}">
      <dgm:prSet/>
      <dgm:spPr/>
      <dgm:t>
        <a:bodyPr/>
        <a:lstStyle/>
        <a:p>
          <a:endParaRPr lang="en-US"/>
        </a:p>
      </dgm:t>
    </dgm:pt>
    <dgm:pt modelId="{130830A2-AEB6-4C66-A80B-E405B8F9FDBA}" type="pres">
      <dgm:prSet presAssocID="{8F8BBF8B-282C-459D-8A0B-04205802BCC2}" presName="matrix" presStyleCnt="0">
        <dgm:presLayoutVars>
          <dgm:chMax val="1"/>
          <dgm:dir/>
          <dgm:resizeHandles val="exact"/>
        </dgm:presLayoutVars>
      </dgm:prSet>
      <dgm:spPr/>
    </dgm:pt>
    <dgm:pt modelId="{16012305-9181-482B-8A4D-6C33A6B34C38}" type="pres">
      <dgm:prSet presAssocID="{8F8BBF8B-282C-459D-8A0B-04205802BCC2}" presName="diamond" presStyleLbl="bgShp" presStyleIdx="0" presStyleCnt="1"/>
      <dgm:spPr/>
    </dgm:pt>
    <dgm:pt modelId="{4B4756FB-BBEC-4C86-A710-9F4AEB349436}" type="pres">
      <dgm:prSet presAssocID="{8F8BBF8B-282C-459D-8A0B-04205802BCC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329AA47-C264-4211-BC14-A6177B814826}" type="pres">
      <dgm:prSet presAssocID="{8F8BBF8B-282C-459D-8A0B-04205802BCC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6E524B9-93A1-4888-8CE8-E688BD858911}" type="pres">
      <dgm:prSet presAssocID="{8F8BBF8B-282C-459D-8A0B-04205802BCC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67BA546-2716-4638-9A55-E5C4AF7B369F}" type="pres">
      <dgm:prSet presAssocID="{8F8BBF8B-282C-459D-8A0B-04205802BCC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D96A039-B4E3-421C-AE9C-FD6B1FC58D61}" srcId="{8F8BBF8B-282C-459D-8A0B-04205802BCC2}" destId="{903C453D-CE3B-49D6-9210-F12C742C72A2}" srcOrd="0" destOrd="0" parTransId="{0907F03A-DFEA-4B20-8A50-54886724ED8F}" sibTransId="{90588380-0FC8-431C-8F10-405C136176B8}"/>
    <dgm:cxn modelId="{59EDC65F-CDC7-4171-9333-34A28EC7E5C4}" type="presOf" srcId="{8F8BBF8B-282C-459D-8A0B-04205802BCC2}" destId="{130830A2-AEB6-4C66-A80B-E405B8F9FDBA}" srcOrd="0" destOrd="0" presId="urn:microsoft.com/office/officeart/2005/8/layout/matrix3"/>
    <dgm:cxn modelId="{FA586565-2E7D-4F67-919E-A5984C9C0722}" srcId="{8F8BBF8B-282C-459D-8A0B-04205802BCC2}" destId="{D84BB223-9579-41A1-940A-BD34DFF9F2E1}" srcOrd="3" destOrd="0" parTransId="{5A86F097-5005-4A3B-BB22-02E0AF509452}" sibTransId="{52219956-7412-40C1-987F-29EE454CB8B7}"/>
    <dgm:cxn modelId="{2A478646-73B7-4F50-995F-A2784468653C}" type="presOf" srcId="{903C453D-CE3B-49D6-9210-F12C742C72A2}" destId="{4B4756FB-BBEC-4C86-A710-9F4AEB349436}" srcOrd="0" destOrd="0" presId="urn:microsoft.com/office/officeart/2005/8/layout/matrix3"/>
    <dgm:cxn modelId="{0B9CDD47-359F-484B-A5C6-8133433EAF7F}" type="presOf" srcId="{CF0BCAB0-CBDF-4901-810B-FCCFB2209F93}" destId="{96E524B9-93A1-4888-8CE8-E688BD858911}" srcOrd="0" destOrd="0" presId="urn:microsoft.com/office/officeart/2005/8/layout/matrix3"/>
    <dgm:cxn modelId="{2F41CC6D-9775-42D2-B425-1DA48C59E922}" srcId="{8F8BBF8B-282C-459D-8A0B-04205802BCC2}" destId="{EEFCEC17-2C47-4E8F-906D-EDD967475FD8}" srcOrd="1" destOrd="0" parTransId="{ACC2BEF5-7F3E-4548-A035-A96063C542F6}" sibTransId="{28A2C39F-779D-4827-A489-AD04942CD75E}"/>
    <dgm:cxn modelId="{5C6C8873-12B3-413A-A558-A982ACC09254}" srcId="{8F8BBF8B-282C-459D-8A0B-04205802BCC2}" destId="{CF0BCAB0-CBDF-4901-810B-FCCFB2209F93}" srcOrd="2" destOrd="0" parTransId="{448FD99D-D614-485D-B006-2CD56F478FD1}" sibTransId="{0FF3B560-B776-4E6E-9606-3042DBC048A8}"/>
    <dgm:cxn modelId="{0DB6E0A3-8843-4CE0-A061-D5BF5E15C21B}" type="presOf" srcId="{D84BB223-9579-41A1-940A-BD34DFF9F2E1}" destId="{367BA546-2716-4638-9A55-E5C4AF7B369F}" srcOrd="0" destOrd="0" presId="urn:microsoft.com/office/officeart/2005/8/layout/matrix3"/>
    <dgm:cxn modelId="{A2D8D3F7-65A1-4E50-B904-650AF3266DAD}" type="presOf" srcId="{EEFCEC17-2C47-4E8F-906D-EDD967475FD8}" destId="{7329AA47-C264-4211-BC14-A6177B814826}" srcOrd="0" destOrd="0" presId="urn:microsoft.com/office/officeart/2005/8/layout/matrix3"/>
    <dgm:cxn modelId="{9A8DF320-7CEF-4878-B149-87CE3595C424}" type="presParOf" srcId="{130830A2-AEB6-4C66-A80B-E405B8F9FDBA}" destId="{16012305-9181-482B-8A4D-6C33A6B34C38}" srcOrd="0" destOrd="0" presId="urn:microsoft.com/office/officeart/2005/8/layout/matrix3"/>
    <dgm:cxn modelId="{33790103-32C4-45B5-9D28-5567EB399264}" type="presParOf" srcId="{130830A2-AEB6-4C66-A80B-E405B8F9FDBA}" destId="{4B4756FB-BBEC-4C86-A710-9F4AEB349436}" srcOrd="1" destOrd="0" presId="urn:microsoft.com/office/officeart/2005/8/layout/matrix3"/>
    <dgm:cxn modelId="{F6784E5C-EB5B-4749-829C-B705379E5093}" type="presParOf" srcId="{130830A2-AEB6-4C66-A80B-E405B8F9FDBA}" destId="{7329AA47-C264-4211-BC14-A6177B814826}" srcOrd="2" destOrd="0" presId="urn:microsoft.com/office/officeart/2005/8/layout/matrix3"/>
    <dgm:cxn modelId="{C80A3646-08BF-4CE1-9531-F5B086D18888}" type="presParOf" srcId="{130830A2-AEB6-4C66-A80B-E405B8F9FDBA}" destId="{96E524B9-93A1-4888-8CE8-E688BD858911}" srcOrd="3" destOrd="0" presId="urn:microsoft.com/office/officeart/2005/8/layout/matrix3"/>
    <dgm:cxn modelId="{92425262-2917-40BD-B33A-17902CAEFD9C}" type="presParOf" srcId="{130830A2-AEB6-4C66-A80B-E405B8F9FDBA}" destId="{367BA546-2716-4638-9A55-E5C4AF7B369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98941E5-F3FC-4F7C-AF23-558483A7BF13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3708482-915B-4821-9A72-CBEE03FE5FE8}">
      <dgm:prSet/>
      <dgm:spPr/>
      <dgm:t>
        <a:bodyPr/>
        <a:lstStyle/>
        <a:p>
          <a:r>
            <a:rPr lang="en-US" b="0" i="0" baseline="0"/>
            <a:t>Maryland has a two‑tier market: many low‑wage service jobs and fewer high‑wage professional jobs </a:t>
          </a:r>
          <a:endParaRPr lang="en-US"/>
        </a:p>
      </dgm:t>
    </dgm:pt>
    <dgm:pt modelId="{FC6BA94D-7E6B-4CA7-A6E8-1AA6FCCAA388}" type="parTrans" cxnId="{FBEB3FD4-05DF-463F-AD63-55DB72707896}">
      <dgm:prSet/>
      <dgm:spPr/>
      <dgm:t>
        <a:bodyPr/>
        <a:lstStyle/>
        <a:p>
          <a:endParaRPr lang="en-US"/>
        </a:p>
      </dgm:t>
    </dgm:pt>
    <dgm:pt modelId="{818C5F1B-3AD3-4287-B454-8788161D83B2}" type="sibTrans" cxnId="{FBEB3FD4-05DF-463F-AD63-55DB72707896}">
      <dgm:prSet/>
      <dgm:spPr/>
      <dgm:t>
        <a:bodyPr/>
        <a:lstStyle/>
        <a:p>
          <a:endParaRPr lang="en-US"/>
        </a:p>
      </dgm:t>
    </dgm:pt>
    <dgm:pt modelId="{0F7C68B9-B836-4C20-8C52-4A72336F1A71}">
      <dgm:prSet/>
      <dgm:spPr/>
      <dgm:t>
        <a:bodyPr/>
        <a:lstStyle/>
        <a:p>
          <a:r>
            <a:rPr lang="en-US" b="0" i="0" baseline="0"/>
            <a:t>Gender and racial gaps appear both from sorting and within occupations </a:t>
          </a:r>
          <a:endParaRPr lang="en-US"/>
        </a:p>
      </dgm:t>
    </dgm:pt>
    <dgm:pt modelId="{6F25CCBE-82E1-4F48-B5CF-3C3D11C1E438}" type="parTrans" cxnId="{7897A1C8-E76C-4D15-8F1A-8E0B3D0ADD41}">
      <dgm:prSet/>
      <dgm:spPr/>
      <dgm:t>
        <a:bodyPr/>
        <a:lstStyle/>
        <a:p>
          <a:endParaRPr lang="en-US"/>
        </a:p>
      </dgm:t>
    </dgm:pt>
    <dgm:pt modelId="{B25A2D34-2B2A-458C-A588-72A40F54B051}" type="sibTrans" cxnId="{7897A1C8-E76C-4D15-8F1A-8E0B3D0ADD41}">
      <dgm:prSet/>
      <dgm:spPr/>
      <dgm:t>
        <a:bodyPr/>
        <a:lstStyle/>
        <a:p>
          <a:endParaRPr lang="en-US"/>
        </a:p>
      </dgm:t>
    </dgm:pt>
    <dgm:pt modelId="{40248750-6C4F-492B-90E7-175B06510F1E}">
      <dgm:prSet/>
      <dgm:spPr/>
      <dgm:t>
        <a:bodyPr/>
        <a:lstStyle/>
        <a:p>
          <a:r>
            <a:rPr lang="en-US" b="0" i="0" baseline="0"/>
            <a:t>STEM raises wages, but returns vary by race and gender </a:t>
          </a:r>
          <a:endParaRPr lang="en-US"/>
        </a:p>
      </dgm:t>
    </dgm:pt>
    <dgm:pt modelId="{94C4F44B-23A2-4311-9F4E-B4641E7A14EA}" type="parTrans" cxnId="{70CF7F38-BDDD-41DA-A853-0A08A94D30C0}">
      <dgm:prSet/>
      <dgm:spPr/>
      <dgm:t>
        <a:bodyPr/>
        <a:lstStyle/>
        <a:p>
          <a:endParaRPr lang="en-US"/>
        </a:p>
      </dgm:t>
    </dgm:pt>
    <dgm:pt modelId="{F2D9B420-320C-4104-9C57-8BE60F6223A5}" type="sibTrans" cxnId="{70CF7F38-BDDD-41DA-A853-0A08A94D30C0}">
      <dgm:prSet/>
      <dgm:spPr/>
      <dgm:t>
        <a:bodyPr/>
        <a:lstStyle/>
        <a:p>
          <a:endParaRPr lang="en-US"/>
        </a:p>
      </dgm:t>
    </dgm:pt>
    <dgm:pt modelId="{FD20352F-AE06-46CE-AFA3-E60FA21CE3A5}" type="pres">
      <dgm:prSet presAssocID="{298941E5-F3FC-4F7C-AF23-558483A7BF13}" presName="vert0" presStyleCnt="0">
        <dgm:presLayoutVars>
          <dgm:dir/>
          <dgm:animOne val="branch"/>
          <dgm:animLvl val="lvl"/>
        </dgm:presLayoutVars>
      </dgm:prSet>
      <dgm:spPr/>
    </dgm:pt>
    <dgm:pt modelId="{6F44D06D-F344-4809-86ED-30F34E0E85EA}" type="pres">
      <dgm:prSet presAssocID="{53708482-915B-4821-9A72-CBEE03FE5FE8}" presName="thickLine" presStyleLbl="alignNode1" presStyleIdx="0" presStyleCnt="3"/>
      <dgm:spPr/>
    </dgm:pt>
    <dgm:pt modelId="{3333EFF2-AFF4-4781-A98E-CA9776B65C76}" type="pres">
      <dgm:prSet presAssocID="{53708482-915B-4821-9A72-CBEE03FE5FE8}" presName="horz1" presStyleCnt="0"/>
      <dgm:spPr/>
    </dgm:pt>
    <dgm:pt modelId="{414F6352-E76D-4E7E-9267-A7D6FF0F0E7F}" type="pres">
      <dgm:prSet presAssocID="{53708482-915B-4821-9A72-CBEE03FE5FE8}" presName="tx1" presStyleLbl="revTx" presStyleIdx="0" presStyleCnt="3"/>
      <dgm:spPr/>
    </dgm:pt>
    <dgm:pt modelId="{0AAB6415-0B07-44A0-A4AE-4DC6D2532C96}" type="pres">
      <dgm:prSet presAssocID="{53708482-915B-4821-9A72-CBEE03FE5FE8}" presName="vert1" presStyleCnt="0"/>
      <dgm:spPr/>
    </dgm:pt>
    <dgm:pt modelId="{C3FB2EFB-B526-4067-A8CF-02E7D2D2CE9F}" type="pres">
      <dgm:prSet presAssocID="{0F7C68B9-B836-4C20-8C52-4A72336F1A71}" presName="thickLine" presStyleLbl="alignNode1" presStyleIdx="1" presStyleCnt="3"/>
      <dgm:spPr/>
    </dgm:pt>
    <dgm:pt modelId="{1522A6DB-1F3D-4414-93A1-737BA3F87933}" type="pres">
      <dgm:prSet presAssocID="{0F7C68B9-B836-4C20-8C52-4A72336F1A71}" presName="horz1" presStyleCnt="0"/>
      <dgm:spPr/>
    </dgm:pt>
    <dgm:pt modelId="{9270C4FE-3653-478A-9D3A-36F2FD5B6FE6}" type="pres">
      <dgm:prSet presAssocID="{0F7C68B9-B836-4C20-8C52-4A72336F1A71}" presName="tx1" presStyleLbl="revTx" presStyleIdx="1" presStyleCnt="3"/>
      <dgm:spPr/>
    </dgm:pt>
    <dgm:pt modelId="{3EABE901-CA43-4D95-93A2-7FDA20BF3321}" type="pres">
      <dgm:prSet presAssocID="{0F7C68B9-B836-4C20-8C52-4A72336F1A71}" presName="vert1" presStyleCnt="0"/>
      <dgm:spPr/>
    </dgm:pt>
    <dgm:pt modelId="{B7950B28-3416-4921-8240-3C965591A315}" type="pres">
      <dgm:prSet presAssocID="{40248750-6C4F-492B-90E7-175B06510F1E}" presName="thickLine" presStyleLbl="alignNode1" presStyleIdx="2" presStyleCnt="3"/>
      <dgm:spPr/>
    </dgm:pt>
    <dgm:pt modelId="{92AE0550-73AD-4E13-AB0F-0DB5BA8399F6}" type="pres">
      <dgm:prSet presAssocID="{40248750-6C4F-492B-90E7-175B06510F1E}" presName="horz1" presStyleCnt="0"/>
      <dgm:spPr/>
    </dgm:pt>
    <dgm:pt modelId="{1CD0AED9-7157-4B85-ABD5-66570EC37D6E}" type="pres">
      <dgm:prSet presAssocID="{40248750-6C4F-492B-90E7-175B06510F1E}" presName="tx1" presStyleLbl="revTx" presStyleIdx="2" presStyleCnt="3"/>
      <dgm:spPr/>
    </dgm:pt>
    <dgm:pt modelId="{25830ACF-FC58-4DEE-A497-FA98580BB4C2}" type="pres">
      <dgm:prSet presAssocID="{40248750-6C4F-492B-90E7-175B06510F1E}" presName="vert1" presStyleCnt="0"/>
      <dgm:spPr/>
    </dgm:pt>
  </dgm:ptLst>
  <dgm:cxnLst>
    <dgm:cxn modelId="{70CF7F38-BDDD-41DA-A853-0A08A94D30C0}" srcId="{298941E5-F3FC-4F7C-AF23-558483A7BF13}" destId="{40248750-6C4F-492B-90E7-175B06510F1E}" srcOrd="2" destOrd="0" parTransId="{94C4F44B-23A2-4311-9F4E-B4641E7A14EA}" sibTransId="{F2D9B420-320C-4104-9C57-8BE60F6223A5}"/>
    <dgm:cxn modelId="{7987B54A-8657-46F1-9A7D-423B19159746}" type="presOf" srcId="{40248750-6C4F-492B-90E7-175B06510F1E}" destId="{1CD0AED9-7157-4B85-ABD5-66570EC37D6E}" srcOrd="0" destOrd="0" presId="urn:microsoft.com/office/officeart/2008/layout/LinedList"/>
    <dgm:cxn modelId="{ABB38554-5C34-402B-B331-372234F72B9B}" type="presOf" srcId="{298941E5-F3FC-4F7C-AF23-558483A7BF13}" destId="{FD20352F-AE06-46CE-AFA3-E60FA21CE3A5}" srcOrd="0" destOrd="0" presId="urn:microsoft.com/office/officeart/2008/layout/LinedList"/>
    <dgm:cxn modelId="{1969C380-FE1E-41D9-8228-485F3DF915F7}" type="presOf" srcId="{0F7C68B9-B836-4C20-8C52-4A72336F1A71}" destId="{9270C4FE-3653-478A-9D3A-36F2FD5B6FE6}" srcOrd="0" destOrd="0" presId="urn:microsoft.com/office/officeart/2008/layout/LinedList"/>
    <dgm:cxn modelId="{06395CAB-DCBE-4BED-838E-C011E0B16E8E}" type="presOf" srcId="{53708482-915B-4821-9A72-CBEE03FE5FE8}" destId="{414F6352-E76D-4E7E-9267-A7D6FF0F0E7F}" srcOrd="0" destOrd="0" presId="urn:microsoft.com/office/officeart/2008/layout/LinedList"/>
    <dgm:cxn modelId="{7897A1C8-E76C-4D15-8F1A-8E0B3D0ADD41}" srcId="{298941E5-F3FC-4F7C-AF23-558483A7BF13}" destId="{0F7C68B9-B836-4C20-8C52-4A72336F1A71}" srcOrd="1" destOrd="0" parTransId="{6F25CCBE-82E1-4F48-B5CF-3C3D11C1E438}" sibTransId="{B25A2D34-2B2A-458C-A588-72A40F54B051}"/>
    <dgm:cxn modelId="{FBEB3FD4-05DF-463F-AD63-55DB72707896}" srcId="{298941E5-F3FC-4F7C-AF23-558483A7BF13}" destId="{53708482-915B-4821-9A72-CBEE03FE5FE8}" srcOrd="0" destOrd="0" parTransId="{FC6BA94D-7E6B-4CA7-A6E8-1AA6FCCAA388}" sibTransId="{818C5F1B-3AD3-4287-B454-8788161D83B2}"/>
    <dgm:cxn modelId="{B01CDF84-45B3-4628-A8E5-19520C945E77}" type="presParOf" srcId="{FD20352F-AE06-46CE-AFA3-E60FA21CE3A5}" destId="{6F44D06D-F344-4809-86ED-30F34E0E85EA}" srcOrd="0" destOrd="0" presId="urn:microsoft.com/office/officeart/2008/layout/LinedList"/>
    <dgm:cxn modelId="{8171BC65-42D0-422C-A010-F010CDDEEAF9}" type="presParOf" srcId="{FD20352F-AE06-46CE-AFA3-E60FA21CE3A5}" destId="{3333EFF2-AFF4-4781-A98E-CA9776B65C76}" srcOrd="1" destOrd="0" presId="urn:microsoft.com/office/officeart/2008/layout/LinedList"/>
    <dgm:cxn modelId="{5ADB019E-E614-4B2D-8C0C-358FF8B8EC02}" type="presParOf" srcId="{3333EFF2-AFF4-4781-A98E-CA9776B65C76}" destId="{414F6352-E76D-4E7E-9267-A7D6FF0F0E7F}" srcOrd="0" destOrd="0" presId="urn:microsoft.com/office/officeart/2008/layout/LinedList"/>
    <dgm:cxn modelId="{914AEA0F-1BF2-4AA7-B025-7620051BBCCC}" type="presParOf" srcId="{3333EFF2-AFF4-4781-A98E-CA9776B65C76}" destId="{0AAB6415-0B07-44A0-A4AE-4DC6D2532C96}" srcOrd="1" destOrd="0" presId="urn:microsoft.com/office/officeart/2008/layout/LinedList"/>
    <dgm:cxn modelId="{009D6790-A86C-4E18-B65E-6D7EAF948CA6}" type="presParOf" srcId="{FD20352F-AE06-46CE-AFA3-E60FA21CE3A5}" destId="{C3FB2EFB-B526-4067-A8CF-02E7D2D2CE9F}" srcOrd="2" destOrd="0" presId="urn:microsoft.com/office/officeart/2008/layout/LinedList"/>
    <dgm:cxn modelId="{C7BE993F-F89C-49AD-AB74-43B05BC499A6}" type="presParOf" srcId="{FD20352F-AE06-46CE-AFA3-E60FA21CE3A5}" destId="{1522A6DB-1F3D-4414-93A1-737BA3F87933}" srcOrd="3" destOrd="0" presId="urn:microsoft.com/office/officeart/2008/layout/LinedList"/>
    <dgm:cxn modelId="{BC67B23A-7EC5-497A-95BB-7E01996155E8}" type="presParOf" srcId="{1522A6DB-1F3D-4414-93A1-737BA3F87933}" destId="{9270C4FE-3653-478A-9D3A-36F2FD5B6FE6}" srcOrd="0" destOrd="0" presId="urn:microsoft.com/office/officeart/2008/layout/LinedList"/>
    <dgm:cxn modelId="{77ADD57F-F9A8-4189-A066-6B29DF5ABE81}" type="presParOf" srcId="{1522A6DB-1F3D-4414-93A1-737BA3F87933}" destId="{3EABE901-CA43-4D95-93A2-7FDA20BF3321}" srcOrd="1" destOrd="0" presId="urn:microsoft.com/office/officeart/2008/layout/LinedList"/>
    <dgm:cxn modelId="{4700BD8A-B5BF-4ACC-81A2-896F5132B708}" type="presParOf" srcId="{FD20352F-AE06-46CE-AFA3-E60FA21CE3A5}" destId="{B7950B28-3416-4921-8240-3C965591A315}" srcOrd="4" destOrd="0" presId="urn:microsoft.com/office/officeart/2008/layout/LinedList"/>
    <dgm:cxn modelId="{CC69DFAE-1F55-4831-972C-F400186146A0}" type="presParOf" srcId="{FD20352F-AE06-46CE-AFA3-E60FA21CE3A5}" destId="{92AE0550-73AD-4E13-AB0F-0DB5BA8399F6}" srcOrd="5" destOrd="0" presId="urn:microsoft.com/office/officeart/2008/layout/LinedList"/>
    <dgm:cxn modelId="{C73B1E84-43E0-42EC-B4DD-BC51E9B831F6}" type="presParOf" srcId="{92AE0550-73AD-4E13-AB0F-0DB5BA8399F6}" destId="{1CD0AED9-7157-4B85-ABD5-66570EC37D6E}" srcOrd="0" destOrd="0" presId="urn:microsoft.com/office/officeart/2008/layout/LinedList"/>
    <dgm:cxn modelId="{978B0C70-857A-4765-A5A9-EE5B3746D1E5}" type="presParOf" srcId="{92AE0550-73AD-4E13-AB0F-0DB5BA8399F6}" destId="{25830ACF-FC58-4DEE-A497-FA98580BB4C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B518D2-085E-4F4C-9700-5E2FEFA0BA2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637CC99-468A-4BAF-AE47-FACCD4AEAEAA}">
      <dgm:prSet/>
      <dgm:spPr/>
      <dgm:t>
        <a:bodyPr/>
        <a:lstStyle/>
        <a:p>
          <a:r>
            <a:rPr lang="en-US" b="0" i="0" baseline="0"/>
            <a:t>Weighted regressions with occupation fixed effects to measure conditional gaps </a:t>
          </a:r>
          <a:endParaRPr lang="en-US"/>
        </a:p>
      </dgm:t>
    </dgm:pt>
    <dgm:pt modelId="{C76A37F0-978F-4FB1-B4A9-9AD67E347477}" type="parTrans" cxnId="{32EEF1D8-E3C1-4254-A36B-BA11C13F424E}">
      <dgm:prSet/>
      <dgm:spPr/>
      <dgm:t>
        <a:bodyPr/>
        <a:lstStyle/>
        <a:p>
          <a:endParaRPr lang="en-US"/>
        </a:p>
      </dgm:t>
    </dgm:pt>
    <dgm:pt modelId="{14822935-6BA6-43FF-8219-A704194A4E38}" type="sibTrans" cxnId="{32EEF1D8-E3C1-4254-A36B-BA11C13F424E}">
      <dgm:prSet/>
      <dgm:spPr/>
      <dgm:t>
        <a:bodyPr/>
        <a:lstStyle/>
        <a:p>
          <a:endParaRPr lang="en-US"/>
        </a:p>
      </dgm:t>
    </dgm:pt>
    <dgm:pt modelId="{60DE295F-5022-41A2-BA3C-223CDAE93826}">
      <dgm:prSet/>
      <dgm:spPr/>
      <dgm:t>
        <a:bodyPr/>
        <a:lstStyle/>
        <a:p>
          <a:r>
            <a:rPr lang="en-US" b="0" i="0" baseline="0"/>
            <a:t>Blinder–Oaxaca decomposition to split explained vs unexplained gap (White vs Black) </a:t>
          </a:r>
          <a:endParaRPr lang="en-US"/>
        </a:p>
      </dgm:t>
    </dgm:pt>
    <dgm:pt modelId="{7511DD47-02B8-48C6-B142-AC900E065781}" type="parTrans" cxnId="{A9206EB2-C034-4BC3-8D9C-B6076236945D}">
      <dgm:prSet/>
      <dgm:spPr/>
      <dgm:t>
        <a:bodyPr/>
        <a:lstStyle/>
        <a:p>
          <a:endParaRPr lang="en-US"/>
        </a:p>
      </dgm:t>
    </dgm:pt>
    <dgm:pt modelId="{E1D3B703-1D46-421E-8319-BE226397B6DC}" type="sibTrans" cxnId="{A9206EB2-C034-4BC3-8D9C-B6076236945D}">
      <dgm:prSet/>
      <dgm:spPr/>
      <dgm:t>
        <a:bodyPr/>
        <a:lstStyle/>
        <a:p>
          <a:endParaRPr lang="en-US"/>
        </a:p>
      </dgm:t>
    </dgm:pt>
    <dgm:pt modelId="{022ABF87-FA42-485C-B718-84E8BD48288E}">
      <dgm:prSet/>
      <dgm:spPr/>
      <dgm:t>
        <a:bodyPr/>
        <a:lstStyle/>
        <a:p>
          <a:r>
            <a:rPr lang="en-US" b="0" i="0" baseline="0"/>
            <a:t>Interaction tests (STEM × race), sector analysis (federal vs private), robustness checks </a:t>
          </a:r>
          <a:endParaRPr lang="en-US"/>
        </a:p>
      </dgm:t>
    </dgm:pt>
    <dgm:pt modelId="{46D9BC0E-506A-4B0A-8679-57A498F6E2B4}" type="parTrans" cxnId="{1532F204-83C5-48CA-BA10-10DA9800F852}">
      <dgm:prSet/>
      <dgm:spPr/>
      <dgm:t>
        <a:bodyPr/>
        <a:lstStyle/>
        <a:p>
          <a:endParaRPr lang="en-US"/>
        </a:p>
      </dgm:t>
    </dgm:pt>
    <dgm:pt modelId="{158304A7-64AE-4C28-BCAB-F7BC65DD833B}" type="sibTrans" cxnId="{1532F204-83C5-48CA-BA10-10DA9800F852}">
      <dgm:prSet/>
      <dgm:spPr/>
      <dgm:t>
        <a:bodyPr/>
        <a:lstStyle/>
        <a:p>
          <a:endParaRPr lang="en-US"/>
        </a:p>
      </dgm:t>
    </dgm:pt>
    <dgm:pt modelId="{1BACBB7E-46F6-419A-B0B4-EEE1BABC0C12}" type="pres">
      <dgm:prSet presAssocID="{E6B518D2-085E-4F4C-9700-5E2FEFA0BA2A}" presName="root" presStyleCnt="0">
        <dgm:presLayoutVars>
          <dgm:dir/>
          <dgm:resizeHandles val="exact"/>
        </dgm:presLayoutVars>
      </dgm:prSet>
      <dgm:spPr/>
    </dgm:pt>
    <dgm:pt modelId="{304E931A-4258-48AE-B677-B60905136B4E}" type="pres">
      <dgm:prSet presAssocID="{9637CC99-468A-4BAF-AE47-FACCD4AEAEAA}" presName="compNode" presStyleCnt="0"/>
      <dgm:spPr/>
    </dgm:pt>
    <dgm:pt modelId="{2E4B11CE-E784-4C75-AFCE-AFA08DFB2388}" type="pres">
      <dgm:prSet presAssocID="{9637CC99-468A-4BAF-AE47-FACCD4AEAEA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46FC6F5-BA18-4FAA-9772-A889DBD5CEDF}" type="pres">
      <dgm:prSet presAssocID="{9637CC99-468A-4BAF-AE47-FACCD4AEAEAA}" presName="spaceRect" presStyleCnt="0"/>
      <dgm:spPr/>
    </dgm:pt>
    <dgm:pt modelId="{92D7F4CF-0667-4A13-A161-B65C98EB9526}" type="pres">
      <dgm:prSet presAssocID="{9637CC99-468A-4BAF-AE47-FACCD4AEAEAA}" presName="textRect" presStyleLbl="revTx" presStyleIdx="0" presStyleCnt="3">
        <dgm:presLayoutVars>
          <dgm:chMax val="1"/>
          <dgm:chPref val="1"/>
        </dgm:presLayoutVars>
      </dgm:prSet>
      <dgm:spPr/>
    </dgm:pt>
    <dgm:pt modelId="{78D2879A-0458-47E0-971C-3676C39440A3}" type="pres">
      <dgm:prSet presAssocID="{14822935-6BA6-43FF-8219-A704194A4E38}" presName="sibTrans" presStyleCnt="0"/>
      <dgm:spPr/>
    </dgm:pt>
    <dgm:pt modelId="{B909E0BA-B174-4AE5-B2DA-154F8C804E9F}" type="pres">
      <dgm:prSet presAssocID="{60DE295F-5022-41A2-BA3C-223CDAE93826}" presName="compNode" presStyleCnt="0"/>
      <dgm:spPr/>
    </dgm:pt>
    <dgm:pt modelId="{D108070D-EED0-48AC-B580-FD47FCAFA465}" type="pres">
      <dgm:prSet presAssocID="{60DE295F-5022-41A2-BA3C-223CDAE9382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876AF95C-0D5C-44C2-8681-D58D67B358CA}" type="pres">
      <dgm:prSet presAssocID="{60DE295F-5022-41A2-BA3C-223CDAE93826}" presName="spaceRect" presStyleCnt="0"/>
      <dgm:spPr/>
    </dgm:pt>
    <dgm:pt modelId="{6342EC46-3D94-43DA-9742-83692AFE0109}" type="pres">
      <dgm:prSet presAssocID="{60DE295F-5022-41A2-BA3C-223CDAE93826}" presName="textRect" presStyleLbl="revTx" presStyleIdx="1" presStyleCnt="3">
        <dgm:presLayoutVars>
          <dgm:chMax val="1"/>
          <dgm:chPref val="1"/>
        </dgm:presLayoutVars>
      </dgm:prSet>
      <dgm:spPr/>
    </dgm:pt>
    <dgm:pt modelId="{98277F4C-E78F-450D-9438-8B8D74261963}" type="pres">
      <dgm:prSet presAssocID="{E1D3B703-1D46-421E-8319-BE226397B6DC}" presName="sibTrans" presStyleCnt="0"/>
      <dgm:spPr/>
    </dgm:pt>
    <dgm:pt modelId="{5AECFE73-902F-4340-B969-E27CCA80F6C1}" type="pres">
      <dgm:prSet presAssocID="{022ABF87-FA42-485C-B718-84E8BD48288E}" presName="compNode" presStyleCnt="0"/>
      <dgm:spPr/>
    </dgm:pt>
    <dgm:pt modelId="{DA61DC5A-686E-4277-B4BD-FD0C71901F1C}" type="pres">
      <dgm:prSet presAssocID="{022ABF87-FA42-485C-B718-84E8BD48288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E9ED742E-2B06-40FB-B820-1796C0A2ECE3}" type="pres">
      <dgm:prSet presAssocID="{022ABF87-FA42-485C-B718-84E8BD48288E}" presName="spaceRect" presStyleCnt="0"/>
      <dgm:spPr/>
    </dgm:pt>
    <dgm:pt modelId="{AE949853-8E00-4E20-98C8-F625517F885A}" type="pres">
      <dgm:prSet presAssocID="{022ABF87-FA42-485C-B718-84E8BD48288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532F204-83C5-48CA-BA10-10DA9800F852}" srcId="{E6B518D2-085E-4F4C-9700-5E2FEFA0BA2A}" destId="{022ABF87-FA42-485C-B718-84E8BD48288E}" srcOrd="2" destOrd="0" parTransId="{46D9BC0E-506A-4B0A-8679-57A498F6E2B4}" sibTransId="{158304A7-64AE-4C28-BCAB-F7BC65DD833B}"/>
    <dgm:cxn modelId="{E1696A39-F7BF-4144-B01F-F7B431723113}" type="presOf" srcId="{022ABF87-FA42-485C-B718-84E8BD48288E}" destId="{AE949853-8E00-4E20-98C8-F625517F885A}" srcOrd="0" destOrd="0" presId="urn:microsoft.com/office/officeart/2018/2/layout/IconLabelList"/>
    <dgm:cxn modelId="{82050542-16F0-4CCC-B79B-F7B799C61E79}" type="presOf" srcId="{9637CC99-468A-4BAF-AE47-FACCD4AEAEAA}" destId="{92D7F4CF-0667-4A13-A161-B65C98EB9526}" srcOrd="0" destOrd="0" presId="urn:microsoft.com/office/officeart/2018/2/layout/IconLabelList"/>
    <dgm:cxn modelId="{1B927689-202A-41C1-8E1C-D5505FD83F7E}" type="presOf" srcId="{60DE295F-5022-41A2-BA3C-223CDAE93826}" destId="{6342EC46-3D94-43DA-9742-83692AFE0109}" srcOrd="0" destOrd="0" presId="urn:microsoft.com/office/officeart/2018/2/layout/IconLabelList"/>
    <dgm:cxn modelId="{A9206EB2-C034-4BC3-8D9C-B6076236945D}" srcId="{E6B518D2-085E-4F4C-9700-5E2FEFA0BA2A}" destId="{60DE295F-5022-41A2-BA3C-223CDAE93826}" srcOrd="1" destOrd="0" parTransId="{7511DD47-02B8-48C6-B142-AC900E065781}" sibTransId="{E1D3B703-1D46-421E-8319-BE226397B6DC}"/>
    <dgm:cxn modelId="{0698B6C6-9D01-4280-9C4C-253865228266}" type="presOf" srcId="{E6B518D2-085E-4F4C-9700-5E2FEFA0BA2A}" destId="{1BACBB7E-46F6-419A-B0B4-EEE1BABC0C12}" srcOrd="0" destOrd="0" presId="urn:microsoft.com/office/officeart/2018/2/layout/IconLabelList"/>
    <dgm:cxn modelId="{32EEF1D8-E3C1-4254-A36B-BA11C13F424E}" srcId="{E6B518D2-085E-4F4C-9700-5E2FEFA0BA2A}" destId="{9637CC99-468A-4BAF-AE47-FACCD4AEAEAA}" srcOrd="0" destOrd="0" parTransId="{C76A37F0-978F-4FB1-B4A9-9AD67E347477}" sibTransId="{14822935-6BA6-43FF-8219-A704194A4E38}"/>
    <dgm:cxn modelId="{E4BD6486-4D1A-416A-BB3B-F327D824337A}" type="presParOf" srcId="{1BACBB7E-46F6-419A-B0B4-EEE1BABC0C12}" destId="{304E931A-4258-48AE-B677-B60905136B4E}" srcOrd="0" destOrd="0" presId="urn:microsoft.com/office/officeart/2018/2/layout/IconLabelList"/>
    <dgm:cxn modelId="{42F2B1C7-2198-4A81-B8CF-29AF3F795ECF}" type="presParOf" srcId="{304E931A-4258-48AE-B677-B60905136B4E}" destId="{2E4B11CE-E784-4C75-AFCE-AFA08DFB2388}" srcOrd="0" destOrd="0" presId="urn:microsoft.com/office/officeart/2018/2/layout/IconLabelList"/>
    <dgm:cxn modelId="{3FC356A2-E931-47EE-B082-BE4710837F95}" type="presParOf" srcId="{304E931A-4258-48AE-B677-B60905136B4E}" destId="{346FC6F5-BA18-4FAA-9772-A889DBD5CEDF}" srcOrd="1" destOrd="0" presId="urn:microsoft.com/office/officeart/2018/2/layout/IconLabelList"/>
    <dgm:cxn modelId="{003FBDAB-3C37-417A-A417-CF29516B65C6}" type="presParOf" srcId="{304E931A-4258-48AE-B677-B60905136B4E}" destId="{92D7F4CF-0667-4A13-A161-B65C98EB9526}" srcOrd="2" destOrd="0" presId="urn:microsoft.com/office/officeart/2018/2/layout/IconLabelList"/>
    <dgm:cxn modelId="{17EC7C08-232D-4318-B2F7-E962C0A553FB}" type="presParOf" srcId="{1BACBB7E-46F6-419A-B0B4-EEE1BABC0C12}" destId="{78D2879A-0458-47E0-971C-3676C39440A3}" srcOrd="1" destOrd="0" presId="urn:microsoft.com/office/officeart/2018/2/layout/IconLabelList"/>
    <dgm:cxn modelId="{18839747-A514-4AEA-BDCC-85786A44E615}" type="presParOf" srcId="{1BACBB7E-46F6-419A-B0B4-EEE1BABC0C12}" destId="{B909E0BA-B174-4AE5-B2DA-154F8C804E9F}" srcOrd="2" destOrd="0" presId="urn:microsoft.com/office/officeart/2018/2/layout/IconLabelList"/>
    <dgm:cxn modelId="{A09747E1-085F-4F91-9F43-BA1D8C58671E}" type="presParOf" srcId="{B909E0BA-B174-4AE5-B2DA-154F8C804E9F}" destId="{D108070D-EED0-48AC-B580-FD47FCAFA465}" srcOrd="0" destOrd="0" presId="urn:microsoft.com/office/officeart/2018/2/layout/IconLabelList"/>
    <dgm:cxn modelId="{39DA0045-7E21-41B1-BEB9-4441B52FE08B}" type="presParOf" srcId="{B909E0BA-B174-4AE5-B2DA-154F8C804E9F}" destId="{876AF95C-0D5C-44C2-8681-D58D67B358CA}" srcOrd="1" destOrd="0" presId="urn:microsoft.com/office/officeart/2018/2/layout/IconLabelList"/>
    <dgm:cxn modelId="{51F31213-FA16-4F6F-BE0F-397234417A66}" type="presParOf" srcId="{B909E0BA-B174-4AE5-B2DA-154F8C804E9F}" destId="{6342EC46-3D94-43DA-9742-83692AFE0109}" srcOrd="2" destOrd="0" presId="urn:microsoft.com/office/officeart/2018/2/layout/IconLabelList"/>
    <dgm:cxn modelId="{26A0E647-3617-473E-BEFE-CBED0FDC6E12}" type="presParOf" srcId="{1BACBB7E-46F6-419A-B0B4-EEE1BABC0C12}" destId="{98277F4C-E78F-450D-9438-8B8D74261963}" srcOrd="3" destOrd="0" presId="urn:microsoft.com/office/officeart/2018/2/layout/IconLabelList"/>
    <dgm:cxn modelId="{C18B0F9C-A44B-4C5D-BDB2-6E75548D339D}" type="presParOf" srcId="{1BACBB7E-46F6-419A-B0B4-EEE1BABC0C12}" destId="{5AECFE73-902F-4340-B969-E27CCA80F6C1}" srcOrd="4" destOrd="0" presId="urn:microsoft.com/office/officeart/2018/2/layout/IconLabelList"/>
    <dgm:cxn modelId="{45505EEB-BBBA-4040-AC27-F0AE72747218}" type="presParOf" srcId="{5AECFE73-902F-4340-B969-E27CCA80F6C1}" destId="{DA61DC5A-686E-4277-B4BD-FD0C71901F1C}" srcOrd="0" destOrd="0" presId="urn:microsoft.com/office/officeart/2018/2/layout/IconLabelList"/>
    <dgm:cxn modelId="{BD544C6E-A42F-4BD8-A078-E4F98F2484A2}" type="presParOf" srcId="{5AECFE73-902F-4340-B969-E27CCA80F6C1}" destId="{E9ED742E-2B06-40FB-B820-1796C0A2ECE3}" srcOrd="1" destOrd="0" presId="urn:microsoft.com/office/officeart/2018/2/layout/IconLabelList"/>
    <dgm:cxn modelId="{4A404208-82F5-4BAF-8112-017000A3E105}" type="presParOf" srcId="{5AECFE73-902F-4340-B969-E27CCA80F6C1}" destId="{AE949853-8E00-4E20-98C8-F625517F885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AFD9F-C02F-4C78-A86D-EEA9AAC0BE9F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D9A0B-97BA-46AA-99BA-2108962EBE22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Main question: Which factors drive wage gaps in Maryland? </a:t>
          </a:r>
          <a:endParaRPr lang="en-US" sz="2200" kern="1200"/>
        </a:p>
      </dsp:txBody>
      <dsp:txXfrm>
        <a:off x="378614" y="886531"/>
        <a:ext cx="2810360" cy="1744948"/>
      </dsp:txXfrm>
    </dsp:sp>
    <dsp:sp modelId="{4689B531-6138-4F8D-BDE4-CD055431567C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382E6-641C-4A79-B5F9-95C3BC283C6E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Two parts: structural sorting and within‑job gaps </a:t>
          </a:r>
          <a:endParaRPr lang="en-US" sz="2200" kern="1200"/>
        </a:p>
      </dsp:txBody>
      <dsp:txXfrm>
        <a:off x="3946203" y="886531"/>
        <a:ext cx="2810360" cy="1744948"/>
      </dsp:txXfrm>
    </dsp:sp>
    <dsp:sp modelId="{A9A5D890-1631-4780-B3E2-008715F83E66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BF8DE-5FDA-410B-A19F-534A06D99408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Roadmap: Data → Cleaning → EDA → Regression &amp; Decomposition → Policy implications </a:t>
          </a:r>
          <a:endParaRPr lang="en-US" sz="2200" kern="1200"/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3844E4-C9E3-4F07-ABA7-F8BA4C7801F4}">
      <dsp:nvSpPr>
        <dsp:cNvPr id="0" name=""/>
        <dsp:cNvSpPr/>
      </dsp:nvSpPr>
      <dsp:spPr>
        <a:xfrm>
          <a:off x="0" y="336740"/>
          <a:ext cx="6666833" cy="15397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ACS PUMS 2024: wages, hours, occupation, education, race, sex, nativity, disability, person weight PWGTP </a:t>
          </a:r>
          <a:endParaRPr lang="en-US" sz="2800" kern="1200"/>
        </a:p>
      </dsp:txBody>
      <dsp:txXfrm>
        <a:off x="75163" y="411903"/>
        <a:ext cx="6516507" cy="1389393"/>
      </dsp:txXfrm>
    </dsp:sp>
    <dsp:sp modelId="{878CF4E9-B3A4-4C65-A9A8-8E3534C47C75}">
      <dsp:nvSpPr>
        <dsp:cNvPr id="0" name=""/>
        <dsp:cNvSpPr/>
      </dsp:nvSpPr>
      <dsp:spPr>
        <a:xfrm>
          <a:off x="0" y="1957100"/>
          <a:ext cx="6666833" cy="1539719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BLS OEWS May 2024: occupation median wages, employment counts, location quotients </a:t>
          </a:r>
          <a:endParaRPr lang="en-US" sz="2800" kern="1200"/>
        </a:p>
      </dsp:txBody>
      <dsp:txXfrm>
        <a:off x="75163" y="2032263"/>
        <a:ext cx="6516507" cy="1389393"/>
      </dsp:txXfrm>
    </dsp:sp>
    <dsp:sp modelId="{7EB2268A-A4A4-4E10-A43D-0AFB30E9E7AF}">
      <dsp:nvSpPr>
        <dsp:cNvPr id="0" name=""/>
        <dsp:cNvSpPr/>
      </dsp:nvSpPr>
      <dsp:spPr>
        <a:xfrm>
          <a:off x="0" y="3577460"/>
          <a:ext cx="6666833" cy="153971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Sample: ~145k sampled workers → ~2.9M weighted population </a:t>
          </a:r>
          <a:endParaRPr lang="en-US" sz="2800" kern="1200"/>
        </a:p>
      </dsp:txBody>
      <dsp:txXfrm>
        <a:off x="75163" y="3652623"/>
        <a:ext cx="6516507" cy="13893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EE06BB-1E8A-4EAF-89C8-12F375B11CD3}">
      <dsp:nvSpPr>
        <dsp:cNvPr id="0" name=""/>
        <dsp:cNvSpPr/>
      </dsp:nvSpPr>
      <dsp:spPr>
        <a:xfrm>
          <a:off x="3735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Remove missing or zero wages and under 18 </a:t>
          </a:r>
          <a:endParaRPr lang="en-US" sz="1500" kern="1200"/>
        </a:p>
      </dsp:txBody>
      <dsp:txXfrm>
        <a:off x="3735" y="1756658"/>
        <a:ext cx="2022288" cy="1698722"/>
      </dsp:txXfrm>
    </dsp:sp>
    <dsp:sp modelId="{3E500877-9120-47D7-88FC-892CEE78304F}">
      <dsp:nvSpPr>
        <dsp:cNvPr id="0" name=""/>
        <dsp:cNvSpPr/>
      </dsp:nvSpPr>
      <dsp:spPr>
        <a:xfrm>
          <a:off x="590198" y="963920"/>
          <a:ext cx="849361" cy="8493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714584" y="1088306"/>
        <a:ext cx="600589" cy="600589"/>
      </dsp:txXfrm>
    </dsp:sp>
    <dsp:sp modelId="{BEE2E5CE-417B-406E-A029-2D4DDF103FDD}">
      <dsp:nvSpPr>
        <dsp:cNvPr id="0" name=""/>
        <dsp:cNvSpPr/>
      </dsp:nvSpPr>
      <dsp:spPr>
        <a:xfrm>
          <a:off x="3735" y="3511932"/>
          <a:ext cx="2022288" cy="72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0A064-800A-4B7E-9433-BA36ACE937BA}">
      <dsp:nvSpPr>
        <dsp:cNvPr id="0" name=""/>
        <dsp:cNvSpPr/>
      </dsp:nvSpPr>
      <dsp:spPr>
        <a:xfrm>
          <a:off x="2228252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Create annual hours = weeks × hours; define full‑time vs part‑time </a:t>
          </a:r>
          <a:endParaRPr lang="en-US" sz="1500" kern="1200"/>
        </a:p>
      </dsp:txBody>
      <dsp:txXfrm>
        <a:off x="2228252" y="1756658"/>
        <a:ext cx="2022288" cy="1698722"/>
      </dsp:txXfrm>
    </dsp:sp>
    <dsp:sp modelId="{A9BC6F45-0598-4946-80FE-4E6301326C4F}">
      <dsp:nvSpPr>
        <dsp:cNvPr id="0" name=""/>
        <dsp:cNvSpPr/>
      </dsp:nvSpPr>
      <dsp:spPr>
        <a:xfrm>
          <a:off x="2814716" y="963920"/>
          <a:ext cx="849361" cy="849361"/>
        </a:xfrm>
        <a:prstGeom prst="ellips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939102" y="1088306"/>
        <a:ext cx="600589" cy="600589"/>
      </dsp:txXfrm>
    </dsp:sp>
    <dsp:sp modelId="{166E75A1-788A-4A2A-8708-B7987494E888}">
      <dsp:nvSpPr>
        <dsp:cNvPr id="0" name=""/>
        <dsp:cNvSpPr/>
      </dsp:nvSpPr>
      <dsp:spPr>
        <a:xfrm>
          <a:off x="2228252" y="3511932"/>
          <a:ext cx="2022288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803320-5781-431C-A6BD-3D56E32FA2AD}">
      <dsp:nvSpPr>
        <dsp:cNvPr id="0" name=""/>
        <dsp:cNvSpPr/>
      </dsp:nvSpPr>
      <dsp:spPr>
        <a:xfrm>
          <a:off x="4452770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Collapse education into five tiers; create race_eth groups </a:t>
          </a:r>
          <a:endParaRPr lang="en-US" sz="1500" kern="1200"/>
        </a:p>
      </dsp:txBody>
      <dsp:txXfrm>
        <a:off x="4452770" y="1756658"/>
        <a:ext cx="2022288" cy="1698722"/>
      </dsp:txXfrm>
    </dsp:sp>
    <dsp:sp modelId="{EDABA5B8-15B1-4D5F-94D5-55E1A6021A73}">
      <dsp:nvSpPr>
        <dsp:cNvPr id="0" name=""/>
        <dsp:cNvSpPr/>
      </dsp:nvSpPr>
      <dsp:spPr>
        <a:xfrm>
          <a:off x="5039233" y="963920"/>
          <a:ext cx="849361" cy="849361"/>
        </a:xfrm>
        <a:prstGeom prst="ellips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5163619" y="1088306"/>
        <a:ext cx="600589" cy="600589"/>
      </dsp:txXfrm>
    </dsp:sp>
    <dsp:sp modelId="{5F8A15B3-39D0-47F6-80BD-1A53E5E858B2}">
      <dsp:nvSpPr>
        <dsp:cNvPr id="0" name=""/>
        <dsp:cNvSpPr/>
      </dsp:nvSpPr>
      <dsp:spPr>
        <a:xfrm>
          <a:off x="4452770" y="3511932"/>
          <a:ext cx="2022288" cy="72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773A1-B70C-4CC4-8D73-BB75A46F5C6A}">
      <dsp:nvSpPr>
        <dsp:cNvPr id="0" name=""/>
        <dsp:cNvSpPr/>
      </dsp:nvSpPr>
      <dsp:spPr>
        <a:xfrm>
          <a:off x="6677287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Map OCCP to 2‑digit SOC groups; create STEM indicator </a:t>
          </a:r>
          <a:endParaRPr lang="en-US" sz="1500" kern="1200"/>
        </a:p>
      </dsp:txBody>
      <dsp:txXfrm>
        <a:off x="6677287" y="1756658"/>
        <a:ext cx="2022288" cy="1698722"/>
      </dsp:txXfrm>
    </dsp:sp>
    <dsp:sp modelId="{9277CA16-C961-4B44-9011-83846B9428DB}">
      <dsp:nvSpPr>
        <dsp:cNvPr id="0" name=""/>
        <dsp:cNvSpPr/>
      </dsp:nvSpPr>
      <dsp:spPr>
        <a:xfrm>
          <a:off x="7263751" y="963920"/>
          <a:ext cx="849361" cy="849361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388137" y="1088306"/>
        <a:ext cx="600589" cy="600589"/>
      </dsp:txXfrm>
    </dsp:sp>
    <dsp:sp modelId="{6F900947-9C24-4B30-84D4-EE6E5E4AC363}">
      <dsp:nvSpPr>
        <dsp:cNvPr id="0" name=""/>
        <dsp:cNvSpPr/>
      </dsp:nvSpPr>
      <dsp:spPr>
        <a:xfrm>
          <a:off x="6677287" y="3511932"/>
          <a:ext cx="2022288" cy="72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251987-B8BD-4BAF-971F-941C1C9ED82C}">
      <dsp:nvSpPr>
        <dsp:cNvPr id="0" name=""/>
        <dsp:cNvSpPr/>
      </dsp:nvSpPr>
      <dsp:spPr>
        <a:xfrm>
          <a:off x="8901805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Save cleaned dataset for analysis </a:t>
          </a:r>
          <a:endParaRPr lang="en-US" sz="1500" kern="1200"/>
        </a:p>
      </dsp:txBody>
      <dsp:txXfrm>
        <a:off x="8901805" y="1756658"/>
        <a:ext cx="2022288" cy="1698722"/>
      </dsp:txXfrm>
    </dsp:sp>
    <dsp:sp modelId="{66DF17FB-DC4A-44E5-BA70-A12BBA3D5065}">
      <dsp:nvSpPr>
        <dsp:cNvPr id="0" name=""/>
        <dsp:cNvSpPr/>
      </dsp:nvSpPr>
      <dsp:spPr>
        <a:xfrm>
          <a:off x="9488268" y="963920"/>
          <a:ext cx="849361" cy="849361"/>
        </a:xfrm>
        <a:prstGeom prst="ellips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612654" y="1088306"/>
        <a:ext cx="600589" cy="600589"/>
      </dsp:txXfrm>
    </dsp:sp>
    <dsp:sp modelId="{CE95C54B-C886-44D4-92F2-4BEEE7D5F1C0}">
      <dsp:nvSpPr>
        <dsp:cNvPr id="0" name=""/>
        <dsp:cNvSpPr/>
      </dsp:nvSpPr>
      <dsp:spPr>
        <a:xfrm>
          <a:off x="8901805" y="3511932"/>
          <a:ext cx="2022288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12305-9181-482B-8A4D-6C33A6B34C38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B4756FB-BBEC-4C86-A710-9F4AEB349436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Treemap: employment size and median wage by occupation (OEWS) </a:t>
          </a:r>
          <a:endParaRPr lang="en-US" sz="2000" kern="1200"/>
        </a:p>
      </dsp:txBody>
      <dsp:txXfrm>
        <a:off x="1228411" y="621955"/>
        <a:ext cx="1919362" cy="1919362"/>
      </dsp:txXfrm>
    </dsp:sp>
    <dsp:sp modelId="{7329AA47-C264-4211-BC14-A6177B814826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KDEs: wage distributions by race for full‑time workers (ACS) </a:t>
          </a:r>
          <a:endParaRPr lang="en-US" sz="2000" kern="1200"/>
        </a:p>
      </dsp:txBody>
      <dsp:txXfrm>
        <a:off x="3519058" y="621955"/>
        <a:ext cx="1919362" cy="1919362"/>
      </dsp:txXfrm>
    </dsp:sp>
    <dsp:sp modelId="{96E524B9-93A1-4888-8CE8-E688BD858911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Dumbbell chart: male vs female median wages by occupation (ACS) </a:t>
          </a:r>
          <a:endParaRPr lang="en-US" sz="2000" kern="1200"/>
        </a:p>
      </dsp:txBody>
      <dsp:txXfrm>
        <a:off x="1228411" y="2912601"/>
        <a:ext cx="1919362" cy="1919362"/>
      </dsp:txXfrm>
    </dsp:sp>
    <dsp:sp modelId="{367BA546-2716-4638-9A55-E5C4AF7B369F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Heatmap: education × occupation wage interaction; top majors by wage </a:t>
          </a:r>
          <a:endParaRPr lang="en-US" sz="2000" kern="1200"/>
        </a:p>
      </dsp:txBody>
      <dsp:txXfrm>
        <a:off x="3519058" y="2912601"/>
        <a:ext cx="1919362" cy="19193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44D06D-F344-4809-86ED-30F34E0E85EA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4F6352-E76D-4E7E-9267-A7D6FF0F0E7F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Maryland has a two‑tier market: many low‑wage service jobs and fewer high‑wage professional jobs </a:t>
          </a:r>
          <a:endParaRPr lang="en-US" sz="3400" kern="1200"/>
        </a:p>
      </dsp:txBody>
      <dsp:txXfrm>
        <a:off x="0" y="2663"/>
        <a:ext cx="6666833" cy="1816197"/>
      </dsp:txXfrm>
    </dsp:sp>
    <dsp:sp modelId="{C3FB2EFB-B526-4067-A8CF-02E7D2D2CE9F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70C4FE-3653-478A-9D3A-36F2FD5B6FE6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Gender and racial gaps appear both from sorting and within occupations </a:t>
          </a:r>
          <a:endParaRPr lang="en-US" sz="3400" kern="1200"/>
        </a:p>
      </dsp:txBody>
      <dsp:txXfrm>
        <a:off x="0" y="1818861"/>
        <a:ext cx="6666833" cy="1816197"/>
      </dsp:txXfrm>
    </dsp:sp>
    <dsp:sp modelId="{B7950B28-3416-4921-8240-3C965591A315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D0AED9-7157-4B85-ABD5-66570EC37D6E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STEM raises wages, but returns vary by race and gender </a:t>
          </a:r>
          <a:endParaRPr lang="en-US" sz="3400" kern="1200"/>
        </a:p>
      </dsp:txBody>
      <dsp:txXfrm>
        <a:off x="0" y="3635058"/>
        <a:ext cx="6666833" cy="181619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B11CE-E784-4C75-AFCE-AFA08DFB2388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D7F4CF-0667-4A13-A161-B65C98EB9526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Weighted regressions with occupation fixed effects to measure conditional gaps </a:t>
          </a:r>
          <a:endParaRPr lang="en-US" sz="1700" kern="1200"/>
        </a:p>
      </dsp:txBody>
      <dsp:txXfrm>
        <a:off x="59990" y="2654049"/>
        <a:ext cx="3226223" cy="720000"/>
      </dsp:txXfrm>
    </dsp:sp>
    <dsp:sp modelId="{D108070D-EED0-48AC-B580-FD47FCAFA465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42EC46-3D94-43DA-9742-83692AFE0109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Blinder–Oaxaca decomposition to split explained vs unexplained gap (White vs Black) </a:t>
          </a:r>
          <a:endParaRPr lang="en-US" sz="1700" kern="1200"/>
        </a:p>
      </dsp:txBody>
      <dsp:txXfrm>
        <a:off x="3850802" y="2654049"/>
        <a:ext cx="3226223" cy="720000"/>
      </dsp:txXfrm>
    </dsp:sp>
    <dsp:sp modelId="{DA61DC5A-686E-4277-B4BD-FD0C71901F1C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949853-8E00-4E20-98C8-F625517F885A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Interaction tests (STEM × race), sector analysis (federal vs private), robustness checks </a:t>
          </a:r>
          <a:endParaRPr lang="en-US" sz="1700" kern="1200"/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796C-464E-5281-294A-B2EE86D2B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1E6F2-2A65-A0DB-D774-5E0D7E35CF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13D49-D483-F850-7524-8D7949160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D175-9C9F-43B0-8BFB-DECC12738DD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DEE00-EE57-D89D-0DFA-3102248A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55C12-6926-B2C4-95B1-012029A7F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B671-DC17-4741-9658-2B4FA8D6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46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C565-E735-3F65-DEDA-8B875E33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BBC03-3950-F692-3E57-F30D2D92F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840D7-DE5F-FBEA-2113-878B85BEA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D175-9C9F-43B0-8BFB-DECC12738DD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55D85-BC5A-4D72-9F0A-E37E3367E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A2F0F-7D57-8C98-7AAD-4E38F931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B671-DC17-4741-9658-2B4FA8D6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3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C55D1-0880-DEFB-5A25-6684E11A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59C0A-C681-E4BB-85E6-8CD05D322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3BBE5-189C-70FB-CA4B-5A81A8F2D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D175-9C9F-43B0-8BFB-DECC12738DD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9FCC2-C989-A318-A4AC-39E2DF91E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5D210-C035-BB8A-411B-81D6677F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B671-DC17-4741-9658-2B4FA8D6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60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F59F8-0ECD-EA8F-6069-EA53EB3A3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A115C-3D38-7417-25DA-15BF9DDA9D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4C6FC-6257-90B0-3F80-BE4618DA6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5472E-3B04-3827-B0A3-F3F4E8872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D175-9C9F-43B0-8BFB-DECC12738DD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3D3DD-C405-91DE-17D4-CE596108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FA8B9-A4E1-2B4D-07DB-83ADCD31B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B671-DC17-4741-9658-2B4FA8D6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3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331CD-4651-0FBB-6D02-5F762616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7C619-5D29-1B31-DFD0-BA0FEDC9E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E3264-CC14-B0F3-7F7E-C2A092171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C3145B-90A1-34F1-A18D-824389F9D3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AA97D4-9B29-669F-3EB3-886097CA9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B487B6-FBC9-C89A-D047-836974DD5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D175-9C9F-43B0-8BFB-DECC12738DD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F52EE7-EE4D-7A38-731B-B258D2D6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05B10-60B0-0700-7928-E8EB1E80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B671-DC17-4741-9658-2B4FA8D6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01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6D913-B988-BC99-0B81-5B6801278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CA77A-2B11-A726-73F4-0245D9F72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D175-9C9F-43B0-8BFB-DECC12738DD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427D9-DE92-C257-3A71-92B11B5C5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82EAF-BCE6-AB12-CB16-2CE616493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B671-DC17-4741-9658-2B4FA8D6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68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DC4B34-F45F-5C2A-421A-8C917E04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D175-9C9F-43B0-8BFB-DECC12738DD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3732F-43FD-D2E2-C0DC-D540B0B8B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845F0-3839-30C8-D349-49AF2DE0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B671-DC17-4741-9658-2B4FA8D6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343D0-2AE6-83A0-3559-7B85C6DD4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AB610-DF53-8601-7437-404CF3A18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AA562-ACCD-157D-27DA-7C20BE0F3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2CC4D-24B9-54E1-3203-CC7A4D848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D175-9C9F-43B0-8BFB-DECC12738DD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B2A0D-F8A7-4659-EB53-F7E2A26D7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23FAE-9F6E-53B8-A30B-FA5D95A96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B671-DC17-4741-9658-2B4FA8D6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39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5B7C-5459-24B6-E337-BC74AA64D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02420-E06A-41F8-0529-3124106A2C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306C0-E961-04AA-45BB-11D2997F1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50203-626B-6BBA-093C-F03692E60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D175-9C9F-43B0-8BFB-DECC12738DD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92DB4-116A-EDAB-F87A-EE5CA94C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1A2ED-AE12-201A-CDDA-8C6FEA729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B671-DC17-4741-9658-2B4FA8D6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69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6B5F-360E-ED1A-5BDF-A7D3851D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020F7-1CFE-A0E6-6ACE-18786EAF0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B42BC-B312-1287-D38C-A727DCFA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D175-9C9F-43B0-8BFB-DECC12738DD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76BC1-1564-0484-9E95-88AC8B502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1333F-2493-F108-A310-D82E0EE2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B671-DC17-4741-9658-2B4FA8D6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73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18AEB1-91B9-85F0-7531-8325CEDC2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83E1D-892D-595B-D990-EACDCDB4A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1BA75-1184-21A6-613D-0EE359CD1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D175-9C9F-43B0-8BFB-DECC12738DD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F2E44-420E-2EB6-9CC2-C12414E0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CFA67-E44B-229D-194D-74F9D474C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B671-DC17-4741-9658-2B4FA8D6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69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EBD05-AC68-5C69-FA1E-696AA7668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F5CDE-66DC-5611-073F-8A979F79F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547D6-5D4A-BAE5-C922-C76AC56FF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8D175-9C9F-43B0-8BFB-DECC12738DD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1F8E3-BAC2-4AF2-1E3E-F32CF8A93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DDDBE-C749-9D8B-CB87-91D468E4D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1B671-DC17-4741-9658-2B4FA8D60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76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78F226-1CAC-AC3C-2ADF-4A5BD1A35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45106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Progress report: Maryland Labor Market Inequality</a:t>
            </a:r>
            <a:br>
              <a:rPr lang="en-US" sz="3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3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3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Elberth </a:t>
            </a:r>
            <a:r>
              <a:rPr lang="en-US" sz="24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Ndounou</a:t>
            </a:r>
            <a:r>
              <a:rPr lang="en-US" sz="2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Yindas</a:t>
            </a:r>
            <a:br>
              <a:rPr lang="en-US" sz="3400" b="1" dirty="0">
                <a:solidFill>
                  <a:schemeClr val="bg1"/>
                </a:solidFill>
              </a:rPr>
            </a:br>
            <a:r>
              <a:rPr lang="en-US" sz="3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205</a:t>
            </a:r>
            <a:br>
              <a:rPr lang="en-US" sz="3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78399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D8D897-9D05-4A36-7F30-3A2057491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Research Question and Roadmap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A56E9ACD-26DF-6AED-80A7-3767F5099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748809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418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7808AE-0FC7-7555-5F06-74994FBCE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 Sources and Key Variables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DB3F008-1096-0C51-140D-65611143BD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715205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4674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EB3746-319A-C553-11BA-3E4250EEA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 Cleaning Steps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8E875EC-7F3B-0AB6-AB35-03F2E12DBB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56724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40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D9832B-F029-627A-3B2E-60234880F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Exploratory Data Analysis Highlights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9301B38-EBB6-1AB7-7BF4-463E9F0D87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206416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7050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4C4C06-0B7C-22F9-F5C9-B144DB609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" y="386080"/>
            <a:ext cx="5548686" cy="255016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A4E4A6-63FC-A8AC-6644-02CC27151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4" y="386081"/>
            <a:ext cx="5477566" cy="265175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B5C9E7-C58D-DB19-6600-1F24EF6C0F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820161"/>
            <a:ext cx="5991785" cy="2368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53EE0B-D2AA-B95E-F48F-7245193ACD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215" y="3820161"/>
            <a:ext cx="5890185" cy="277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416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06E02-A0CC-D958-D61A-39A1CF39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the EDA Suggests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9B5E1E1-F756-1A94-AAA2-9A430BAB8A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898951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4635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AC24D-6AC5-E996-DEA9-6CDF2407F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Planned Analysis and Deliverables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B66472B-48D2-C9DA-94C2-8FAFE50B53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349683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047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317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Progress report: Maryland Labor Market Inequality   Elberth Ndounou Yindas  DATA 205 </vt:lpstr>
      <vt:lpstr>Research Question and Roadmap</vt:lpstr>
      <vt:lpstr>Data Sources and Key Variables</vt:lpstr>
      <vt:lpstr>Data Cleaning Steps</vt:lpstr>
      <vt:lpstr>Exploratory Data Analysis Highlights</vt:lpstr>
      <vt:lpstr>PowerPoint Presentation</vt:lpstr>
      <vt:lpstr>What the EDA Suggests</vt:lpstr>
      <vt:lpstr>Planned Analysis and 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Elberth NDOUNOU YINDAS</dc:creator>
  <cp:lastModifiedBy>Elberth NDOUNOU YINDAS</cp:lastModifiedBy>
  <cp:revision>1</cp:revision>
  <dcterms:created xsi:type="dcterms:W3CDTF">2026-05-15T03:15:40Z</dcterms:created>
  <dcterms:modified xsi:type="dcterms:W3CDTF">2026-05-15T03:42:08Z</dcterms:modified>
</cp:coreProperties>
</file>